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Thank you for being here. Today we present our AMATH102 project: a full numerical study of vibrations in a stretched string — from the physical model, to an implicit finite-difference solver, to energy conservation and an inverse problem that recovers a physical wave speed from a single sensor reading. My name is [X], and together with my teammates Mohammed, Sara, Salma and Fadel, we will walk you through five questions in about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organized around the five questions of the assignment. First, we derive an implicit finite-difference scheme for the wave equation. Second, we cast it as a tridiagonal linear system and exploit an O(N) LU factorization. Third, we implement and validate the solver on an exact test case, including an animation and a convergence study. Fourth, we track the mechanical energy of the string using Simpson's rule. And fifth, we solve an inverse problem: recovering the wave speed from a single experimental measurement using bisection followed by Newton's method. Let's start with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Physically, we model the transverse displacement u(x,t) of a string under tension T with linear mass density ρ. Newton's second law on an infinitesimal element gives the forced wave equation you see here, with wave speed c equal to the square root of T over ρ. The string is fixed at both ends — Dirichlet boundary conditions — and we prescribe an initial shape and an initial velocity. This single PDE is the foundation for everything that follows: we will discretize it, assemble it into a linear system, solve it numerically, validate it against an exact solution, and then extend it to study energy conservation and to solve an inverse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discretize space and time on a uniform mesh: N intervals in space with step Delta x, and time steps of size Delta t. Using a centered Taylor expansion, the second time derivative at node i, time n is approximated by the usual three-point stencil, with truncation error of order Delta t squared. For the spatial second derivative, the key modeling choice is that we evaluate it at the FUTURE time level, n plus one, not at the current level. This single choice is what makes the scheme implicit: the three spatial neighbors at the new time step are coupled together, so we cannot update them independently — we must solve a linear system at every step. In exchange, as we'll see, we get unconditional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both finite-difference formulas into the PDE gives this implicit equation for i from 1 to N minus 1. Why is it implicit? Because the three unknowns at the new time level — u at i minus 1, i, and i plus 1 — all appear on the right-hand side simultaneously. They're coupled, so we cannot isolate any one of them; we must solve a linear system at every time step. The reward for this extra work is unconditional stability: unlike an explicit scheme, there is no CFL restriction linking Delta t to Delta x. We are free to choose the time step based purely on accuracy needs. The local truncation error is O of Delta t squared plus Delta x squared, so by the Lax-Richtmyer equivalence theorem, consistency together with unconditional stability guarantees convergence.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Introducing the dimensionless stiffness ratio r, equal to c squared Delta t squared over Delta x squared, we regroup all the future-time unknowns onto the left-hand side. This produces a clean three-term recurrence: minus r times the left neighbor, plus one plus two r times the center, minus r times the right neighbor, equal to a right-hand side built entirely from the two previous time levels and the source term. Writing this for every interior node produces the matrix system A U-n-plus-one equals two U-n minus U-n-minus-one plus Delta t squared F-n. The matrix A is tridiagonal, symmetric, diagonally dominant, and — as we show in the report — symmetric positive definite, which is exactly the structure that makes an efficient LU factorization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stiffness matrix A does not change from one time step to the next, we factorize it exactly once, before entering the time loop, using an LU decomposition. Every subsequent step only requires one forward and one backward substitution. For a dense matrix this factorization would cost O of N cubed and each solve O of N squared; because A is tridiagonal, the factorization costs only O of N and each solve also costs O of N. Over Nt time steps the total cost is O of Nt times N, which is optimal. This is only safe because A is symmetric positive definite — its eigenvalues, shown here, are all strictly positive, so LU factorization needs no pivoting and no numerical instability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our solver we use a manufactured test problem: we pick the exact solution sine of pi x times cosine of 2 pi t, plug it into the PDE, and back out the exact forcing term f that makes this solution exact. This gives us a ground truth we can compare against. We run the simulation with wave speed 1, length 1, up to final time 2, using N equals 100 spatial intervals and a time step of 0.01. At the final time, the maximum error is about 1.2 times ten to the minus four, and the L2 error about 8.4 times ten to the minus five — both very small, confirming the implementation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numerical displacement of the string at seven time instants. It starts as the classic positive sine arch. By t equals 0.5, cosine of 2 pi t crosses zero and the string is flat; by t equals 1, the string has inverted into a downward arch. By t equals 2, exactly one full period later, it has returned to its original shape. This is precisely the standing-wave behavior we expect physically, and it comes directly from running the LU-based time-stepping loop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more rigorously, we overlay the numerical solution — in orange — directly on the exact solution — the dashed navy curve — at six different time instants. At every single instant the two curves are visually indistinguishable. This is strong qualitative evidence that our matrix assembly, our LU factorization, and our time-stepping loop are all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wave motion tangible, we also produced a full animation of the string over the entire simulated period, comparing the numerical curve directly against the exact solution frame by frame. On the right you can see five snapshots sampled from that animation, from t equals 0 up to nearly t equals 2 — showing the string's full up-and-down cycle. In PowerPoint's slide show mode the GIF on the left plays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a single validation run, we performed a full grid-refinement study, halving Delta x from 0.1 down to about 0.006 while keeping Delta t proportional to Delta x. Plotting the max-norm and L2-norm errors on a log-log scale, both fall on straight lines with slope approaching 2. The table on the right makes this quantitative: the observed order climbs from 2.68 up to 2.97 as the grid is refined, converging to the theoretical value of 2 predicted by our truncation error analysis in Question 1. This is the numerical proof that our scheme is truly second-order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homogeneous wave equation, the total mechanical energy is the integral of the kinetic term u-t squared plus c squared times the elastic term u-x squared. Differentiating this and using the PDE, one can show the energy is exactly conserved when there is no forcing. Numerically, we approximate u-t with a centered difference in time and u-x with a centered difference in space, then integrate the energy density over the string using the Composite Simpson Rule, whose quadrature error is O of Delta x to the fourth — two orders better than our O of Delta x squared PDE solver — so the energy computation itself introduces essentially no extra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complementary experiments. On the left, the homogeneous string with no forcing: the discrete energy stays close to the exact value pi squared over four, about 2.467, with only a small drift caused by the O of Delta t squared error in our centered velocity approximation — this confirms the scheme is non-dissipative, exactly as predicted by our von Neumann stability analysis showing the amplification factor has modulus exactly one. On the right, the original forced test problem: the energy visibly oscillates between about 1.6 and 10, because the source term f continuously pumps energy in and out of the string. Both behaviors are exactly what the physics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inverse problem, a sensor at the midpoint of the string records a displacement of 0.35 at time 0.5. We want the wave speed c consistent with this single measurement. We define the residual F of c as the numerically computed displacement at that point, for a trial speed c, minus the observed value; the root of F is our answer. Importantly, we must use the homogeneous wave equation here, not the forced problem from Question 3 — that forcing term was manufactured specifically for c equals 1, and using it for other speeds makes the equation unsolvable in the required range. We solve F of c equals zero in two phases: first bisection, using a bracket 0.75 to 0.80 found from a coarse scan, which is slow but guaranteed to converge; then Newton's method, started from the bisection result, using a centered finite-difference approximation of the derivative, which converges quadratically.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bisection's interval half-width shrinks linearly on a log scale, needing 17 iterations to reach a tolerance of 10 to the minus 6. Handing that estimate to Newton's method, the residual collapses to near machine precision — about 2 times 10 to the minus 13 — in just 2 iterations, the hallmark of quadratic convergence. The identified wave speed is about 0.7707, compared with the analytical reference of 0.7724; the small remaining gap comes purely from the O of Delta x squared discretization error of the forward PDE solver, not from the root-finding algorithm — we verified this shrinks proportionally as we refine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starting from the forced wave equation, we built a second-order accurate, unconditionally stable implicit scheme, cast it as a symmetric positive-definite tridiagonal system, and solved it efficiently with a single O of N LU factorization reused at every time step. We validated the simulator against an exact solution, confirming second-order convergence numerically. We then extended the solver to track mechanical energy with Simpson's rule, confirming the scheme is non-dissipative, and finally solved an inverse problem, recovering a physical wave speed from a single sensor measurement using bisection followed by Newton's method. Together, these five questions form one coherent numerical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attention. This concludes our presentation of the numerical simulation and analysis of vibrations in a stretched string, covering the discretization, the matrix formulation, validated simulation, energy conservation, and the wave-speed identification. We would be happy to take any questions from the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9966960" y="-1463040"/>
            <a:ext cx="4754880" cy="4754880"/>
          </a:xfrm>
          <a:prstGeom prst="ellipse">
            <a:avLst/>
          </a:prstGeom>
          <a:solidFill>
            <a:srgbClr val="20304F"/>
          </a:solidFill>
          <a:ln/>
        </p:spPr>
      </p:sp>
      <p:sp>
        <p:nvSpPr>
          <p:cNvPr id="3" name="Shape 1"/>
          <p:cNvSpPr/>
          <p:nvPr/>
        </p:nvSpPr>
        <p:spPr>
          <a:xfrm>
            <a:off x="-1645920" y="4754880"/>
            <a:ext cx="4023360" cy="4023360"/>
          </a:xfrm>
          <a:prstGeom prst="ellipse">
            <a:avLst/>
          </a:prstGeom>
          <a:solidFill>
            <a:srgbClr val="1A2740"/>
          </a:solidFill>
          <a:ln/>
        </p:spPr>
      </p:sp>
      <p:sp>
        <p:nvSpPr>
          <p:cNvPr id="4" name="Text 2"/>
          <p:cNvSpPr/>
          <p:nvPr/>
        </p:nvSpPr>
        <p:spPr>
          <a:xfrm>
            <a:off x="914400" y="1508760"/>
            <a:ext cx="10332720" cy="365760"/>
          </a:xfrm>
          <a:prstGeom prst="rect">
            <a:avLst/>
          </a:prstGeom>
          <a:noFill/>
          <a:ln/>
        </p:spPr>
        <p:txBody>
          <a:bodyPr wrap="square" lIns="0" tIns="0" rIns="0" bIns="0" rtlCol="0" anchor="ctr"/>
          <a:lstStyle/>
          <a:p>
            <a:pPr indent="0" marL="0">
              <a:buNone/>
            </a:pPr>
            <a:r>
              <a:rPr lang="en-US" sz="1300" b="1" spc="200" kern="0" dirty="0">
                <a:solidFill>
                  <a:srgbClr val="D46A00"/>
                </a:solidFill>
                <a:latin typeface="Calibri" pitchFamily="34" charset="0"/>
                <a:ea typeface="Calibri" pitchFamily="34" charset="-122"/>
                <a:cs typeface="Calibri" pitchFamily="34" charset="-120"/>
              </a:rPr>
              <a:t>AMATH 102 · PROJECT ORAL DEFENSE</a:t>
            </a:r>
            <a:endParaRPr lang="en-US" sz="1300" dirty="0"/>
          </a:p>
        </p:txBody>
      </p:sp>
      <p:sp>
        <p:nvSpPr>
          <p:cNvPr id="5" name="Text 3"/>
          <p:cNvSpPr/>
          <p:nvPr/>
        </p:nvSpPr>
        <p:spPr>
          <a:xfrm>
            <a:off x="914400" y="1874520"/>
            <a:ext cx="10332720" cy="13716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Vibrations in a Stretched String</a:t>
            </a:r>
            <a:endParaRPr lang="en-US" sz="4600" dirty="0"/>
          </a:p>
        </p:txBody>
      </p:sp>
      <p:sp>
        <p:nvSpPr>
          <p:cNvPr id="6" name="Text 4"/>
          <p:cNvSpPr/>
          <p:nvPr/>
        </p:nvSpPr>
        <p:spPr>
          <a:xfrm>
            <a:off x="914400" y="2880360"/>
            <a:ext cx="9601200" cy="502920"/>
          </a:xfrm>
          <a:prstGeom prst="rect">
            <a:avLst/>
          </a:prstGeom>
          <a:noFill/>
          <a:ln/>
        </p:spPr>
        <p:txBody>
          <a:bodyPr wrap="square" lIns="0" tIns="0" rIns="0" bIns="0" rtlCol="0" anchor="ctr"/>
          <a:lstStyle/>
          <a:p>
            <a:pPr indent="0" marL="0">
              <a:buNone/>
            </a:pPr>
            <a:r>
              <a:rPr lang="en-US" sz="1700" i="1" dirty="0">
                <a:solidFill>
                  <a:srgbClr val="AAB8D6"/>
                </a:solidFill>
                <a:latin typeface="Calibri" pitchFamily="34" charset="0"/>
                <a:ea typeface="Calibri" pitchFamily="34" charset="-122"/>
                <a:cs typeface="Calibri" pitchFamily="34" charset="-120"/>
              </a:rPr>
              <a:t>Numerical Simulation, Matrix Formulation &amp; Energy Preservation</a:t>
            </a:r>
            <a:endParaRPr lang="en-US" sz="1700" dirty="0"/>
          </a:p>
        </p:txBody>
      </p:sp>
      <p:sp>
        <p:nvSpPr>
          <p:cNvPr id="7" name="Shape 5"/>
          <p:cNvSpPr/>
          <p:nvPr/>
        </p:nvSpPr>
        <p:spPr>
          <a:xfrm>
            <a:off x="914400" y="3703320"/>
            <a:ext cx="4206240" cy="0"/>
          </a:xfrm>
          <a:prstGeom prst="line">
            <a:avLst/>
          </a:prstGeom>
          <a:noFill/>
          <a:ln w="12700">
            <a:solidFill>
              <a:srgbClr val="3A4B72"/>
            </a:solidFill>
            <a:prstDash val="solid"/>
          </a:ln>
        </p:spPr>
      </p:sp>
      <p:sp>
        <p:nvSpPr>
          <p:cNvPr id="8" name="Text 6"/>
          <p:cNvSpPr/>
          <p:nvPr/>
        </p:nvSpPr>
        <p:spPr>
          <a:xfrm>
            <a:off x="914400" y="3931920"/>
            <a:ext cx="1005840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Rania Lalami   ·   Mohammed Mahzoul   ·   Sara Loumir   ·   Salma Haidara   ·   Fadel Alah El Annid</a:t>
            </a:r>
            <a:endParaRPr lang="en-US" sz="1350" dirty="0"/>
          </a:p>
        </p:txBody>
      </p:sp>
      <p:sp>
        <p:nvSpPr>
          <p:cNvPr id="9" name="Text 7"/>
          <p:cNvSpPr/>
          <p:nvPr/>
        </p:nvSpPr>
        <p:spPr>
          <a:xfrm>
            <a:off x="914400" y="4279392"/>
            <a:ext cx="10058400" cy="320040"/>
          </a:xfrm>
          <a:prstGeom prst="rect">
            <a:avLst/>
          </a:prstGeom>
          <a:noFill/>
          <a:ln/>
        </p:spPr>
        <p:txBody>
          <a:bodyPr wrap="square" lIns="0" tIns="0" rIns="0" bIns="0" rtlCol="0" anchor="ctr"/>
          <a:lstStyle/>
          <a:p>
            <a:pPr indent="0" marL="0">
              <a:buNone/>
            </a:pPr>
            <a:r>
              <a:rPr lang="en-US" sz="1150" dirty="0">
                <a:solidFill>
                  <a:srgbClr val="8291B5"/>
                </a:solidFill>
                <a:latin typeface="Calibri" pitchFamily="34" charset="0"/>
                <a:ea typeface="Calibri" pitchFamily="34" charset="-122"/>
                <a:cs typeface="Calibri" pitchFamily="34" charset="-120"/>
              </a:rPr>
              <a:t>University Mohammed VI Polytechnic (UM6P) · Vanguard Center · Applied Mathematics AMATH102</a:t>
            </a:r>
            <a:endParaRPr lang="en-US" sz="1150" dirty="0"/>
          </a:p>
        </p:txBody>
      </p:sp>
      <p:sp>
        <p:nvSpPr>
          <p:cNvPr id="10" name="Shape 8"/>
          <p:cNvSpPr/>
          <p:nvPr/>
        </p:nvSpPr>
        <p:spPr>
          <a:xfrm>
            <a:off x="10332720" y="5074920"/>
            <a:ext cx="960120" cy="960120"/>
          </a:xfrm>
          <a:prstGeom prst="ellipse">
            <a:avLst/>
          </a:prstGeom>
          <a:solidFill>
            <a:srgbClr val="24345A"/>
          </a:solidFill>
          <a:ln/>
        </p:spPr>
      </p:sp>
      <p:pic>
        <p:nvPicPr>
          <p:cNvPr id="11" name="Image 0" descr="/home/claude/proj/figs/icons/wave.png">    </p:cNvPr>
          <p:cNvPicPr>
            <a:picLocks noChangeAspect="1"/>
          </p:cNvPicPr>
          <p:nvPr/>
        </p:nvPicPr>
        <p:blipFill>
          <a:blip r:embed="rId1"/>
          <a:stretch>
            <a:fillRect/>
          </a:stretch>
        </p:blipFill>
        <p:spPr>
          <a:xfrm>
            <a:off x="10457536" y="5199736"/>
            <a:ext cx="710489" cy="7104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OVERVIEW</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Presentation Agenda</a:t>
            </a:r>
            <a:endParaRPr lang="en-US" sz="3000" dirty="0"/>
          </a:p>
        </p:txBody>
      </p:sp>
      <p:sp>
        <p:nvSpPr>
          <p:cNvPr id="6" name="Text 4"/>
          <p:cNvSpPr/>
          <p:nvPr/>
        </p:nvSpPr>
        <p:spPr>
          <a:xfrm>
            <a:off x="457200" y="1481328"/>
            <a:ext cx="10607040" cy="45720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Five questions, one continuous numerical pipeline — from the continuous PDE to a validated, physically consistent simulator.</a:t>
            </a:r>
            <a:endParaRPr lang="en-US" sz="1400" dirty="0"/>
          </a:p>
        </p:txBody>
      </p:sp>
      <p:sp>
        <p:nvSpPr>
          <p:cNvPr id="7" name="Shape 5"/>
          <p:cNvSpPr/>
          <p:nvPr/>
        </p:nvSpPr>
        <p:spPr>
          <a:xfrm>
            <a:off x="457200" y="2148840"/>
            <a:ext cx="1993392" cy="3794760"/>
          </a:xfrm>
          <a:prstGeom prst="roundRect">
            <a:avLst>
              <a:gd name="adj" fmla="val 4128"/>
            </a:avLst>
          </a:prstGeom>
          <a:solidFill>
            <a:srgbClr val="F3F5F9"/>
          </a:solidFill>
          <a:ln/>
          <a:effectLst>
            <a:outerShdw sx="100000" sy="100000" kx="0" ky="0" algn="bl" rotWithShape="0" blurRad="127000" dist="38100" dir="5400000">
              <a:srgbClr val="0B1220">
                <a:alpha val="12000"/>
              </a:srgbClr>
            </a:outerShdw>
          </a:effectLst>
        </p:spPr>
      </p:sp>
      <p:sp>
        <p:nvSpPr>
          <p:cNvPr id="8" name="Shape 6"/>
          <p:cNvSpPr/>
          <p:nvPr/>
        </p:nvSpPr>
        <p:spPr>
          <a:xfrm>
            <a:off x="1170432" y="2441448"/>
            <a:ext cx="566928" cy="566928"/>
          </a:xfrm>
          <a:prstGeom prst="ellipse">
            <a:avLst/>
          </a:prstGeom>
          <a:solidFill>
            <a:srgbClr val="1B2A4A"/>
          </a:solidFill>
          <a:ln/>
        </p:spPr>
      </p:sp>
      <p:pic>
        <p:nvPicPr>
          <p:cNvPr id="9" name="Image 0" descr="/home/claude/proj/figs/icons/wave.png">    </p:cNvPr>
          <p:cNvPicPr>
            <a:picLocks noChangeAspect="1"/>
          </p:cNvPicPr>
          <p:nvPr/>
        </p:nvPicPr>
        <p:blipFill>
          <a:blip r:embed="rId1"/>
          <a:stretch>
            <a:fillRect/>
          </a:stretch>
        </p:blipFill>
        <p:spPr>
          <a:xfrm>
            <a:off x="1244133" y="2515149"/>
            <a:ext cx="419527" cy="419527"/>
          </a:xfrm>
          <a:prstGeom prst="rect">
            <a:avLst/>
          </a:prstGeom>
        </p:spPr>
      </p:pic>
      <p:sp>
        <p:nvSpPr>
          <p:cNvPr id="10" name="Text 7"/>
          <p:cNvSpPr/>
          <p:nvPr/>
        </p:nvSpPr>
        <p:spPr>
          <a:xfrm>
            <a:off x="457200" y="3136392"/>
            <a:ext cx="1993392" cy="274320"/>
          </a:xfrm>
          <a:prstGeom prst="rect">
            <a:avLst/>
          </a:prstGeom>
          <a:noFill/>
          <a:ln/>
        </p:spPr>
        <p:txBody>
          <a:bodyPr wrap="square" lIns="0" tIns="0" rIns="0" bIns="0" rtlCol="0" anchor="ctr"/>
          <a:lstStyle/>
          <a:p>
            <a:pPr algn="ctr" indent="0" marL="0">
              <a:buNone/>
            </a:pPr>
            <a:r>
              <a:rPr lang="en-US" sz="1200" b="1" spc="150" kern="0" dirty="0">
                <a:solidFill>
                  <a:srgbClr val="D46A00"/>
                </a:solidFill>
                <a:latin typeface="Calibri" pitchFamily="34" charset="0"/>
                <a:ea typeface="Calibri" pitchFamily="34" charset="-122"/>
                <a:cs typeface="Calibri" pitchFamily="34" charset="-120"/>
              </a:rPr>
              <a:t>Q1</a:t>
            </a:r>
            <a:endParaRPr lang="en-US" sz="1200" dirty="0"/>
          </a:p>
        </p:txBody>
      </p:sp>
      <p:sp>
        <p:nvSpPr>
          <p:cNvPr id="11" name="Text 8"/>
          <p:cNvSpPr/>
          <p:nvPr/>
        </p:nvSpPr>
        <p:spPr>
          <a:xfrm>
            <a:off x="603504" y="3410712"/>
            <a:ext cx="1700784" cy="868680"/>
          </a:xfrm>
          <a:prstGeom prst="rect">
            <a:avLst/>
          </a:prstGeom>
          <a:noFill/>
          <a:ln/>
        </p:spPr>
        <p:txBody>
          <a:bodyPr wrap="square" lIns="0" tIns="0" rIns="0" bIns="0" rtlCol="0" anchor="t"/>
          <a:lstStyle/>
          <a:p>
            <a:pPr algn="ctr" indent="0" marL="0">
              <a:buNone/>
            </a:pPr>
            <a:r>
              <a:rPr lang="en-US" sz="1400" b="1" dirty="0">
                <a:solidFill>
                  <a:srgbClr val="1B2A4A"/>
                </a:solidFill>
                <a:latin typeface="Cambria" pitchFamily="34" charset="0"/>
                <a:ea typeface="Cambria" pitchFamily="34" charset="-122"/>
                <a:cs typeface="Cambria" pitchFamily="34" charset="-120"/>
              </a:rPr>
              <a:t>Modeling &amp; Discretization</a:t>
            </a:r>
            <a:endParaRPr lang="en-US" sz="1400" dirty="0"/>
          </a:p>
        </p:txBody>
      </p:sp>
      <p:sp>
        <p:nvSpPr>
          <p:cNvPr id="12" name="Text 9"/>
          <p:cNvSpPr/>
          <p:nvPr/>
        </p:nvSpPr>
        <p:spPr>
          <a:xfrm>
            <a:off x="603504" y="4297680"/>
            <a:ext cx="1700784" cy="1554480"/>
          </a:xfrm>
          <a:prstGeom prst="rect">
            <a:avLst/>
          </a:prstGeom>
          <a:noFill/>
          <a:ln/>
        </p:spPr>
        <p:txBody>
          <a:bodyPr wrap="square" lIns="0" tIns="0" rIns="0" bIns="0" rtlCol="0" anchor="t"/>
          <a:lstStyle/>
          <a:p>
            <a:pPr algn="ctr" indent="0" marL="0">
              <a:buNone/>
            </a:pPr>
            <a:r>
              <a:rPr lang="en-US" sz="1050" dirty="0">
                <a:solidFill>
                  <a:srgbClr val="1E293B"/>
                </a:solidFill>
                <a:latin typeface="Calibri" pitchFamily="34" charset="0"/>
                <a:ea typeface="Calibri" pitchFamily="34" charset="-122"/>
                <a:cs typeface="Calibri" pitchFamily="34" charset="-120"/>
              </a:rPr>
              <a:t>Governing forced wave equation and a second-order centered, implicit finite-difference scheme.</a:t>
            </a:r>
            <a:endParaRPr lang="en-US" sz="1050" dirty="0"/>
          </a:p>
        </p:txBody>
      </p:sp>
      <p:sp>
        <p:nvSpPr>
          <p:cNvPr id="13" name="Shape 10"/>
          <p:cNvSpPr/>
          <p:nvPr/>
        </p:nvSpPr>
        <p:spPr>
          <a:xfrm>
            <a:off x="2615184" y="2148840"/>
            <a:ext cx="1993392" cy="3794760"/>
          </a:xfrm>
          <a:prstGeom prst="roundRect">
            <a:avLst>
              <a:gd name="adj" fmla="val 4128"/>
            </a:avLst>
          </a:prstGeom>
          <a:solidFill>
            <a:srgbClr val="ECEFF5"/>
          </a:solidFill>
          <a:ln/>
          <a:effectLst>
            <a:outerShdw sx="100000" sy="100000" kx="0" ky="0" algn="bl" rotWithShape="0" blurRad="127000" dist="38100" dir="5400000">
              <a:srgbClr val="0B1220">
                <a:alpha val="12000"/>
              </a:srgbClr>
            </a:outerShdw>
          </a:effectLst>
        </p:spPr>
      </p:sp>
      <p:sp>
        <p:nvSpPr>
          <p:cNvPr id="14" name="Shape 11"/>
          <p:cNvSpPr/>
          <p:nvPr/>
        </p:nvSpPr>
        <p:spPr>
          <a:xfrm>
            <a:off x="3328416" y="2441448"/>
            <a:ext cx="566928" cy="566928"/>
          </a:xfrm>
          <a:prstGeom prst="ellipse">
            <a:avLst/>
          </a:prstGeom>
          <a:solidFill>
            <a:srgbClr val="1B2A4A"/>
          </a:solidFill>
          <a:ln/>
        </p:spPr>
      </p:sp>
      <p:pic>
        <p:nvPicPr>
          <p:cNvPr id="15" name="Image 1" descr="/home/claude/proj/figs/icons/grid.png">    </p:cNvPr>
          <p:cNvPicPr>
            <a:picLocks noChangeAspect="1"/>
          </p:cNvPicPr>
          <p:nvPr/>
        </p:nvPicPr>
        <p:blipFill>
          <a:blip r:embed="rId2"/>
          <a:stretch>
            <a:fillRect/>
          </a:stretch>
        </p:blipFill>
        <p:spPr>
          <a:xfrm>
            <a:off x="3402117" y="2515149"/>
            <a:ext cx="419527" cy="419527"/>
          </a:xfrm>
          <a:prstGeom prst="rect">
            <a:avLst/>
          </a:prstGeom>
        </p:spPr>
      </p:pic>
      <p:sp>
        <p:nvSpPr>
          <p:cNvPr id="16" name="Text 12"/>
          <p:cNvSpPr/>
          <p:nvPr/>
        </p:nvSpPr>
        <p:spPr>
          <a:xfrm>
            <a:off x="2615184" y="3136392"/>
            <a:ext cx="1993392" cy="274320"/>
          </a:xfrm>
          <a:prstGeom prst="rect">
            <a:avLst/>
          </a:prstGeom>
          <a:noFill/>
          <a:ln/>
        </p:spPr>
        <p:txBody>
          <a:bodyPr wrap="square" lIns="0" tIns="0" rIns="0" bIns="0" rtlCol="0" anchor="ctr"/>
          <a:lstStyle/>
          <a:p>
            <a:pPr algn="ctr" indent="0" marL="0">
              <a:buNone/>
            </a:pPr>
            <a:r>
              <a:rPr lang="en-US" sz="1200" b="1" spc="150" kern="0" dirty="0">
                <a:solidFill>
                  <a:srgbClr val="D46A00"/>
                </a:solidFill>
                <a:latin typeface="Calibri" pitchFamily="34" charset="0"/>
                <a:ea typeface="Calibri" pitchFamily="34" charset="-122"/>
                <a:cs typeface="Calibri" pitchFamily="34" charset="-120"/>
              </a:rPr>
              <a:t>Q2</a:t>
            </a:r>
            <a:endParaRPr lang="en-US" sz="1200" dirty="0"/>
          </a:p>
        </p:txBody>
      </p:sp>
      <p:sp>
        <p:nvSpPr>
          <p:cNvPr id="17" name="Text 13"/>
          <p:cNvSpPr/>
          <p:nvPr/>
        </p:nvSpPr>
        <p:spPr>
          <a:xfrm>
            <a:off x="2761488" y="3410712"/>
            <a:ext cx="1700784" cy="868680"/>
          </a:xfrm>
          <a:prstGeom prst="rect">
            <a:avLst/>
          </a:prstGeom>
          <a:noFill/>
          <a:ln/>
        </p:spPr>
        <p:txBody>
          <a:bodyPr wrap="square" lIns="0" tIns="0" rIns="0" bIns="0" rtlCol="0" anchor="t"/>
          <a:lstStyle/>
          <a:p>
            <a:pPr algn="ctr" indent="0" marL="0">
              <a:buNone/>
            </a:pPr>
            <a:r>
              <a:rPr lang="en-US" sz="1400" b="1" dirty="0">
                <a:solidFill>
                  <a:srgbClr val="1B2A4A"/>
                </a:solidFill>
                <a:latin typeface="Cambria" pitchFamily="34" charset="0"/>
                <a:ea typeface="Cambria" pitchFamily="34" charset="-122"/>
                <a:cs typeface="Cambria" pitchFamily="34" charset="-120"/>
              </a:rPr>
              <a:t>Matrix Formulation</a:t>
            </a:r>
            <a:endParaRPr lang="en-US" sz="1400" dirty="0"/>
          </a:p>
        </p:txBody>
      </p:sp>
      <p:sp>
        <p:nvSpPr>
          <p:cNvPr id="18" name="Text 14"/>
          <p:cNvSpPr/>
          <p:nvPr/>
        </p:nvSpPr>
        <p:spPr>
          <a:xfrm>
            <a:off x="2761488" y="4297680"/>
            <a:ext cx="1700784" cy="1554480"/>
          </a:xfrm>
          <a:prstGeom prst="rect">
            <a:avLst/>
          </a:prstGeom>
          <a:noFill/>
          <a:ln/>
        </p:spPr>
        <p:txBody>
          <a:bodyPr wrap="square" lIns="0" tIns="0" rIns="0" bIns="0" rtlCol="0" anchor="t"/>
          <a:lstStyle/>
          <a:p>
            <a:pPr algn="ctr" indent="0" marL="0">
              <a:buNone/>
            </a:pPr>
            <a:r>
              <a:rPr lang="en-US" sz="1050" dirty="0">
                <a:solidFill>
                  <a:srgbClr val="1E293B"/>
                </a:solidFill>
                <a:latin typeface="Calibri" pitchFamily="34" charset="0"/>
                <a:ea typeface="Calibri" pitchFamily="34" charset="-122"/>
                <a:cs typeface="Calibri" pitchFamily="34" charset="-120"/>
              </a:rPr>
              <a:t>Tridiagonal system AU = b, its structure, and a single O(N) LU factorization.</a:t>
            </a:r>
            <a:endParaRPr lang="en-US" sz="1050" dirty="0"/>
          </a:p>
        </p:txBody>
      </p:sp>
      <p:sp>
        <p:nvSpPr>
          <p:cNvPr id="19" name="Shape 15"/>
          <p:cNvSpPr/>
          <p:nvPr/>
        </p:nvSpPr>
        <p:spPr>
          <a:xfrm>
            <a:off x="4773168" y="2148840"/>
            <a:ext cx="1993392" cy="3794760"/>
          </a:xfrm>
          <a:prstGeom prst="roundRect">
            <a:avLst>
              <a:gd name="adj" fmla="val 4128"/>
            </a:avLst>
          </a:prstGeom>
          <a:solidFill>
            <a:srgbClr val="F3F5F9"/>
          </a:solidFill>
          <a:ln/>
          <a:effectLst>
            <a:outerShdw sx="100000" sy="100000" kx="0" ky="0" algn="bl" rotWithShape="0" blurRad="127000" dist="38100" dir="5400000">
              <a:srgbClr val="0B1220">
                <a:alpha val="12000"/>
              </a:srgbClr>
            </a:outerShdw>
          </a:effectLst>
        </p:spPr>
      </p:sp>
      <p:sp>
        <p:nvSpPr>
          <p:cNvPr id="20" name="Shape 16"/>
          <p:cNvSpPr/>
          <p:nvPr/>
        </p:nvSpPr>
        <p:spPr>
          <a:xfrm>
            <a:off x="5486400" y="2441448"/>
            <a:ext cx="566928" cy="566928"/>
          </a:xfrm>
          <a:prstGeom prst="ellipse">
            <a:avLst/>
          </a:prstGeom>
          <a:solidFill>
            <a:srgbClr val="1B2A4A"/>
          </a:solidFill>
          <a:ln/>
        </p:spPr>
      </p:sp>
      <p:pic>
        <p:nvPicPr>
          <p:cNvPr id="21" name="Image 2" descr="/home/claude/proj/figs/icons/chart.png">    </p:cNvPr>
          <p:cNvPicPr>
            <a:picLocks noChangeAspect="1"/>
          </p:cNvPicPr>
          <p:nvPr/>
        </p:nvPicPr>
        <p:blipFill>
          <a:blip r:embed="rId3"/>
          <a:stretch>
            <a:fillRect/>
          </a:stretch>
        </p:blipFill>
        <p:spPr>
          <a:xfrm>
            <a:off x="5560101" y="2515149"/>
            <a:ext cx="419527" cy="419527"/>
          </a:xfrm>
          <a:prstGeom prst="rect">
            <a:avLst/>
          </a:prstGeom>
        </p:spPr>
      </p:pic>
      <p:sp>
        <p:nvSpPr>
          <p:cNvPr id="22" name="Text 17"/>
          <p:cNvSpPr/>
          <p:nvPr/>
        </p:nvSpPr>
        <p:spPr>
          <a:xfrm>
            <a:off x="4773168" y="3136392"/>
            <a:ext cx="1993392" cy="274320"/>
          </a:xfrm>
          <a:prstGeom prst="rect">
            <a:avLst/>
          </a:prstGeom>
          <a:noFill/>
          <a:ln/>
        </p:spPr>
        <p:txBody>
          <a:bodyPr wrap="square" lIns="0" tIns="0" rIns="0" bIns="0" rtlCol="0" anchor="ctr"/>
          <a:lstStyle/>
          <a:p>
            <a:pPr algn="ctr" indent="0" marL="0">
              <a:buNone/>
            </a:pPr>
            <a:r>
              <a:rPr lang="en-US" sz="1200" b="1" spc="150" kern="0" dirty="0">
                <a:solidFill>
                  <a:srgbClr val="D46A00"/>
                </a:solidFill>
                <a:latin typeface="Calibri" pitchFamily="34" charset="0"/>
                <a:ea typeface="Calibri" pitchFamily="34" charset="-122"/>
                <a:cs typeface="Calibri" pitchFamily="34" charset="-120"/>
              </a:rPr>
              <a:t>Q3</a:t>
            </a:r>
            <a:endParaRPr lang="en-US" sz="1200" dirty="0"/>
          </a:p>
        </p:txBody>
      </p:sp>
      <p:sp>
        <p:nvSpPr>
          <p:cNvPr id="23" name="Text 18"/>
          <p:cNvSpPr/>
          <p:nvPr/>
        </p:nvSpPr>
        <p:spPr>
          <a:xfrm>
            <a:off x="4919472" y="3410712"/>
            <a:ext cx="1700784" cy="868680"/>
          </a:xfrm>
          <a:prstGeom prst="rect">
            <a:avLst/>
          </a:prstGeom>
          <a:noFill/>
          <a:ln/>
        </p:spPr>
        <p:txBody>
          <a:bodyPr wrap="square" lIns="0" tIns="0" rIns="0" bIns="0" rtlCol="0" anchor="t"/>
          <a:lstStyle/>
          <a:p>
            <a:pPr algn="ctr" indent="0" marL="0">
              <a:buNone/>
            </a:pPr>
            <a:r>
              <a:rPr lang="en-US" sz="1400" b="1" dirty="0">
                <a:solidFill>
                  <a:srgbClr val="1B2A4A"/>
                </a:solidFill>
                <a:latin typeface="Cambria" pitchFamily="34" charset="0"/>
                <a:ea typeface="Cambria" pitchFamily="34" charset="-122"/>
                <a:cs typeface="Cambria" pitchFamily="34" charset="-120"/>
              </a:rPr>
              <a:t>Simulation &amp; Convergence</a:t>
            </a:r>
            <a:endParaRPr lang="en-US" sz="1400" dirty="0"/>
          </a:p>
        </p:txBody>
      </p:sp>
      <p:sp>
        <p:nvSpPr>
          <p:cNvPr id="24" name="Text 19"/>
          <p:cNvSpPr/>
          <p:nvPr/>
        </p:nvSpPr>
        <p:spPr>
          <a:xfrm>
            <a:off x="4919472" y="4297680"/>
            <a:ext cx="1700784" cy="1554480"/>
          </a:xfrm>
          <a:prstGeom prst="rect">
            <a:avLst/>
          </a:prstGeom>
          <a:noFill/>
          <a:ln/>
        </p:spPr>
        <p:txBody>
          <a:bodyPr wrap="square" lIns="0" tIns="0" rIns="0" bIns="0" rtlCol="0" anchor="t"/>
          <a:lstStyle/>
          <a:p>
            <a:pPr algn="ctr" indent="0" marL="0">
              <a:buNone/>
            </a:pPr>
            <a:r>
              <a:rPr lang="en-US" sz="1050" dirty="0">
                <a:solidFill>
                  <a:srgbClr val="1E293B"/>
                </a:solidFill>
                <a:latin typeface="Calibri" pitchFamily="34" charset="0"/>
                <a:ea typeface="Calibri" pitchFamily="34" charset="-122"/>
                <a:cs typeface="Calibri" pitchFamily="34" charset="-120"/>
              </a:rPr>
              <a:t>LU-based solver, validation against an exact solution, animation, O(Δx²) convergence.</a:t>
            </a:r>
            <a:endParaRPr lang="en-US" sz="1050" dirty="0"/>
          </a:p>
        </p:txBody>
      </p:sp>
      <p:sp>
        <p:nvSpPr>
          <p:cNvPr id="25" name="Shape 20"/>
          <p:cNvSpPr/>
          <p:nvPr/>
        </p:nvSpPr>
        <p:spPr>
          <a:xfrm>
            <a:off x="6931152" y="2148840"/>
            <a:ext cx="1993392" cy="3794760"/>
          </a:xfrm>
          <a:prstGeom prst="roundRect">
            <a:avLst>
              <a:gd name="adj" fmla="val 4128"/>
            </a:avLst>
          </a:prstGeom>
          <a:solidFill>
            <a:srgbClr val="ECEFF5"/>
          </a:solidFill>
          <a:ln/>
          <a:effectLst>
            <a:outerShdw sx="100000" sy="100000" kx="0" ky="0" algn="bl" rotWithShape="0" blurRad="127000" dist="38100" dir="5400000">
              <a:srgbClr val="0B1220">
                <a:alpha val="12000"/>
              </a:srgbClr>
            </a:outerShdw>
          </a:effectLst>
        </p:spPr>
      </p:sp>
      <p:sp>
        <p:nvSpPr>
          <p:cNvPr id="26" name="Shape 21"/>
          <p:cNvSpPr/>
          <p:nvPr/>
        </p:nvSpPr>
        <p:spPr>
          <a:xfrm>
            <a:off x="7644384" y="2441448"/>
            <a:ext cx="566928" cy="566928"/>
          </a:xfrm>
          <a:prstGeom prst="ellipse">
            <a:avLst/>
          </a:prstGeom>
          <a:solidFill>
            <a:srgbClr val="1B2A4A"/>
          </a:solidFill>
          <a:ln/>
        </p:spPr>
      </p:sp>
      <p:pic>
        <p:nvPicPr>
          <p:cNvPr id="27" name="Image 3" descr="/home/claude/proj/figs/icons/bolt.png">    </p:cNvPr>
          <p:cNvPicPr>
            <a:picLocks noChangeAspect="1"/>
          </p:cNvPicPr>
          <p:nvPr/>
        </p:nvPicPr>
        <p:blipFill>
          <a:blip r:embed="rId4"/>
          <a:stretch>
            <a:fillRect/>
          </a:stretch>
        </p:blipFill>
        <p:spPr>
          <a:xfrm>
            <a:off x="7718085" y="2515149"/>
            <a:ext cx="419527" cy="419527"/>
          </a:xfrm>
          <a:prstGeom prst="rect">
            <a:avLst/>
          </a:prstGeom>
        </p:spPr>
      </p:pic>
      <p:sp>
        <p:nvSpPr>
          <p:cNvPr id="28" name="Text 22"/>
          <p:cNvSpPr/>
          <p:nvPr/>
        </p:nvSpPr>
        <p:spPr>
          <a:xfrm>
            <a:off x="6931152" y="3136392"/>
            <a:ext cx="1993392" cy="274320"/>
          </a:xfrm>
          <a:prstGeom prst="rect">
            <a:avLst/>
          </a:prstGeom>
          <a:noFill/>
          <a:ln/>
        </p:spPr>
        <p:txBody>
          <a:bodyPr wrap="square" lIns="0" tIns="0" rIns="0" bIns="0" rtlCol="0" anchor="ctr"/>
          <a:lstStyle/>
          <a:p>
            <a:pPr algn="ctr" indent="0" marL="0">
              <a:buNone/>
            </a:pPr>
            <a:r>
              <a:rPr lang="en-US" sz="1200" b="1" spc="150" kern="0" dirty="0">
                <a:solidFill>
                  <a:srgbClr val="D46A00"/>
                </a:solidFill>
                <a:latin typeface="Calibri" pitchFamily="34" charset="0"/>
                <a:ea typeface="Calibri" pitchFamily="34" charset="-122"/>
                <a:cs typeface="Calibri" pitchFamily="34" charset="-120"/>
              </a:rPr>
              <a:t>Q4</a:t>
            </a:r>
            <a:endParaRPr lang="en-US" sz="1200" dirty="0"/>
          </a:p>
        </p:txBody>
      </p:sp>
      <p:sp>
        <p:nvSpPr>
          <p:cNvPr id="29" name="Text 23"/>
          <p:cNvSpPr/>
          <p:nvPr/>
        </p:nvSpPr>
        <p:spPr>
          <a:xfrm>
            <a:off x="7077456" y="3410712"/>
            <a:ext cx="1700784" cy="868680"/>
          </a:xfrm>
          <a:prstGeom prst="rect">
            <a:avLst/>
          </a:prstGeom>
          <a:noFill/>
          <a:ln/>
        </p:spPr>
        <p:txBody>
          <a:bodyPr wrap="square" lIns="0" tIns="0" rIns="0" bIns="0" rtlCol="0" anchor="t"/>
          <a:lstStyle/>
          <a:p>
            <a:pPr algn="ctr" indent="0" marL="0">
              <a:buNone/>
            </a:pPr>
            <a:r>
              <a:rPr lang="en-US" sz="1400" b="1" dirty="0">
                <a:solidFill>
                  <a:srgbClr val="1B2A4A"/>
                </a:solidFill>
                <a:latin typeface="Cambria" pitchFamily="34" charset="0"/>
                <a:ea typeface="Cambria" pitchFamily="34" charset="-122"/>
                <a:cs typeface="Cambria" pitchFamily="34" charset="-120"/>
              </a:rPr>
              <a:t>Mechanical Energy</a:t>
            </a:r>
            <a:endParaRPr lang="en-US" sz="1400" dirty="0"/>
          </a:p>
        </p:txBody>
      </p:sp>
      <p:sp>
        <p:nvSpPr>
          <p:cNvPr id="30" name="Text 24"/>
          <p:cNvSpPr/>
          <p:nvPr/>
        </p:nvSpPr>
        <p:spPr>
          <a:xfrm>
            <a:off x="7077456" y="4297680"/>
            <a:ext cx="1700784" cy="1554480"/>
          </a:xfrm>
          <a:prstGeom prst="rect">
            <a:avLst/>
          </a:prstGeom>
          <a:noFill/>
          <a:ln/>
        </p:spPr>
        <p:txBody>
          <a:bodyPr wrap="square" lIns="0" tIns="0" rIns="0" bIns="0" rtlCol="0" anchor="t"/>
          <a:lstStyle/>
          <a:p>
            <a:pPr algn="ctr" indent="0" marL="0">
              <a:buNone/>
            </a:pPr>
            <a:r>
              <a:rPr lang="en-US" sz="1050" dirty="0">
                <a:solidFill>
                  <a:srgbClr val="1E293B"/>
                </a:solidFill>
                <a:latin typeface="Calibri" pitchFamily="34" charset="0"/>
                <a:ea typeface="Calibri" pitchFamily="34" charset="-122"/>
                <a:cs typeface="Calibri" pitchFamily="34" charset="-120"/>
              </a:rPr>
              <a:t>Composite Simpson's rule to track kinetic + elastic energy through time.</a:t>
            </a:r>
            <a:endParaRPr lang="en-US" sz="1050" dirty="0"/>
          </a:p>
        </p:txBody>
      </p:sp>
      <p:sp>
        <p:nvSpPr>
          <p:cNvPr id="31" name="Shape 25"/>
          <p:cNvSpPr/>
          <p:nvPr/>
        </p:nvSpPr>
        <p:spPr>
          <a:xfrm>
            <a:off x="9089136" y="2148840"/>
            <a:ext cx="1993392" cy="3794760"/>
          </a:xfrm>
          <a:prstGeom prst="roundRect">
            <a:avLst>
              <a:gd name="adj" fmla="val 4128"/>
            </a:avLst>
          </a:prstGeom>
          <a:solidFill>
            <a:srgbClr val="F3F5F9"/>
          </a:solidFill>
          <a:ln/>
          <a:effectLst>
            <a:outerShdw sx="100000" sy="100000" kx="0" ky="0" algn="bl" rotWithShape="0" blurRad="127000" dist="38100" dir="5400000">
              <a:srgbClr val="0B1220">
                <a:alpha val="12000"/>
              </a:srgbClr>
            </a:outerShdw>
          </a:effectLst>
        </p:spPr>
      </p:sp>
      <p:sp>
        <p:nvSpPr>
          <p:cNvPr id="32" name="Shape 26"/>
          <p:cNvSpPr/>
          <p:nvPr/>
        </p:nvSpPr>
        <p:spPr>
          <a:xfrm>
            <a:off x="9802368" y="2441448"/>
            <a:ext cx="566928" cy="566928"/>
          </a:xfrm>
          <a:prstGeom prst="ellipse">
            <a:avLst/>
          </a:prstGeom>
          <a:solidFill>
            <a:srgbClr val="1B2A4A"/>
          </a:solidFill>
          <a:ln/>
        </p:spPr>
      </p:sp>
      <p:pic>
        <p:nvPicPr>
          <p:cNvPr id="33" name="Image 4" descr="/home/claude/proj/figs/icons/target.png">    </p:cNvPr>
          <p:cNvPicPr>
            <a:picLocks noChangeAspect="1"/>
          </p:cNvPicPr>
          <p:nvPr/>
        </p:nvPicPr>
        <p:blipFill>
          <a:blip r:embed="rId5"/>
          <a:stretch>
            <a:fillRect/>
          </a:stretch>
        </p:blipFill>
        <p:spPr>
          <a:xfrm>
            <a:off x="9876069" y="2515149"/>
            <a:ext cx="419527" cy="419527"/>
          </a:xfrm>
          <a:prstGeom prst="rect">
            <a:avLst/>
          </a:prstGeom>
        </p:spPr>
      </p:pic>
      <p:sp>
        <p:nvSpPr>
          <p:cNvPr id="34" name="Text 27"/>
          <p:cNvSpPr/>
          <p:nvPr/>
        </p:nvSpPr>
        <p:spPr>
          <a:xfrm>
            <a:off x="9089136" y="3136392"/>
            <a:ext cx="1993392" cy="274320"/>
          </a:xfrm>
          <a:prstGeom prst="rect">
            <a:avLst/>
          </a:prstGeom>
          <a:noFill/>
          <a:ln/>
        </p:spPr>
        <p:txBody>
          <a:bodyPr wrap="square" lIns="0" tIns="0" rIns="0" bIns="0" rtlCol="0" anchor="ctr"/>
          <a:lstStyle/>
          <a:p>
            <a:pPr algn="ctr" indent="0" marL="0">
              <a:buNone/>
            </a:pPr>
            <a:r>
              <a:rPr lang="en-US" sz="1200" b="1" spc="150" kern="0" dirty="0">
                <a:solidFill>
                  <a:srgbClr val="D46A00"/>
                </a:solidFill>
                <a:latin typeface="Calibri" pitchFamily="34" charset="0"/>
                <a:ea typeface="Calibri" pitchFamily="34" charset="-122"/>
                <a:cs typeface="Calibri" pitchFamily="34" charset="-120"/>
              </a:rPr>
              <a:t>Q5</a:t>
            </a:r>
            <a:endParaRPr lang="en-US" sz="1200" dirty="0"/>
          </a:p>
        </p:txBody>
      </p:sp>
      <p:sp>
        <p:nvSpPr>
          <p:cNvPr id="35" name="Text 28"/>
          <p:cNvSpPr/>
          <p:nvPr/>
        </p:nvSpPr>
        <p:spPr>
          <a:xfrm>
            <a:off x="9235440" y="3410712"/>
            <a:ext cx="1700784" cy="868680"/>
          </a:xfrm>
          <a:prstGeom prst="rect">
            <a:avLst/>
          </a:prstGeom>
          <a:noFill/>
          <a:ln/>
        </p:spPr>
        <p:txBody>
          <a:bodyPr wrap="square" lIns="0" tIns="0" rIns="0" bIns="0" rtlCol="0" anchor="t"/>
          <a:lstStyle/>
          <a:p>
            <a:pPr algn="ctr" indent="0" marL="0">
              <a:buNone/>
            </a:pPr>
            <a:r>
              <a:rPr lang="en-US" sz="1400" b="1" dirty="0">
                <a:solidFill>
                  <a:srgbClr val="1B2A4A"/>
                </a:solidFill>
                <a:latin typeface="Cambria" pitchFamily="34" charset="0"/>
                <a:ea typeface="Cambria" pitchFamily="34" charset="-122"/>
                <a:cs typeface="Cambria" pitchFamily="34" charset="-120"/>
              </a:rPr>
              <a:t>Wave-Speed Identification</a:t>
            </a:r>
            <a:endParaRPr lang="en-US" sz="1400" dirty="0"/>
          </a:p>
        </p:txBody>
      </p:sp>
      <p:sp>
        <p:nvSpPr>
          <p:cNvPr id="36" name="Text 29"/>
          <p:cNvSpPr/>
          <p:nvPr/>
        </p:nvSpPr>
        <p:spPr>
          <a:xfrm>
            <a:off x="9235440" y="4297680"/>
            <a:ext cx="1700784" cy="1554480"/>
          </a:xfrm>
          <a:prstGeom prst="rect">
            <a:avLst/>
          </a:prstGeom>
          <a:noFill/>
          <a:ln/>
        </p:spPr>
        <p:txBody>
          <a:bodyPr wrap="square" lIns="0" tIns="0" rIns="0" bIns="0" rtlCol="0" anchor="t"/>
          <a:lstStyle/>
          <a:p>
            <a:pPr algn="ctr" indent="0" marL="0">
              <a:buNone/>
            </a:pPr>
            <a:r>
              <a:rPr lang="en-US" sz="1050" dirty="0">
                <a:solidFill>
                  <a:srgbClr val="1E293B"/>
                </a:solidFill>
                <a:latin typeface="Calibri" pitchFamily="34" charset="0"/>
                <a:ea typeface="Calibri" pitchFamily="34" charset="-122"/>
                <a:cs typeface="Calibri" pitchFamily="34" charset="-120"/>
              </a:rPr>
              <a:t>Bisection then Newton's method recover c from one sensor measurement.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BACKGROUND</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Governing Physics</a:t>
            </a:r>
            <a:endParaRPr lang="en-US" sz="3000" dirty="0"/>
          </a:p>
        </p:txBody>
      </p:sp>
      <p:sp>
        <p:nvSpPr>
          <p:cNvPr id="6" name="Shape 4"/>
          <p:cNvSpPr/>
          <p:nvPr/>
        </p:nvSpPr>
        <p:spPr>
          <a:xfrm>
            <a:off x="457200" y="1554480"/>
            <a:ext cx="6309360" cy="4617720"/>
          </a:xfrm>
          <a:prstGeom prst="roundRect">
            <a:avLst>
              <a:gd name="adj" fmla="val 1584"/>
            </a:avLst>
          </a:prstGeom>
          <a:solidFill>
            <a:srgbClr val="F3F5F9"/>
          </a:solidFill>
          <a:ln/>
        </p:spPr>
      </p:sp>
      <p:sp>
        <p:nvSpPr>
          <p:cNvPr id="7" name="Text 5"/>
          <p:cNvSpPr/>
          <p:nvPr/>
        </p:nvSpPr>
        <p:spPr>
          <a:xfrm>
            <a:off x="685800" y="1737360"/>
            <a:ext cx="5852160" cy="7772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 string of length L, fixed at both ends, displaced and released. Newton's second law on an infinitesimal element gives the forced wave equation:</a:t>
            </a:r>
            <a:endParaRPr lang="en-US" sz="1300" dirty="0"/>
          </a:p>
        </p:txBody>
      </p:sp>
      <p:pic>
        <p:nvPicPr>
          <p:cNvPr id="8" name="Image 0" descr="/home/claude/proj/figs/eq/governing_pde.png">    </p:cNvPr>
          <p:cNvPicPr>
            <a:picLocks noChangeAspect="1"/>
          </p:cNvPicPr>
          <p:nvPr/>
        </p:nvPicPr>
        <p:blipFill>
          <a:blip r:embed="rId1"/>
          <a:stretch>
            <a:fillRect/>
          </a:stretch>
        </p:blipFill>
        <p:spPr>
          <a:xfrm>
            <a:off x="1051560" y="2514600"/>
            <a:ext cx="3977640" cy="711202"/>
          </a:xfrm>
          <a:prstGeom prst="rect">
            <a:avLst/>
          </a:prstGeom>
        </p:spPr>
      </p:pic>
      <p:sp>
        <p:nvSpPr>
          <p:cNvPr id="9" name="Text 6"/>
          <p:cNvSpPr/>
          <p:nvPr/>
        </p:nvSpPr>
        <p:spPr>
          <a:xfrm>
            <a:off x="685800" y="3246120"/>
            <a:ext cx="576072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Wave speed:  </a:t>
            </a:r>
            <a:pPr indent="0" marL="0">
              <a:buNone/>
            </a:pPr>
            <a:r>
              <a:rPr lang="en-US" sz="1300" dirty="0">
                <a:solidFill>
                  <a:srgbClr val="1E293B"/>
                </a:solidFill>
                <a:latin typeface="Calibri" pitchFamily="34" charset="0"/>
                <a:ea typeface="Calibri" pitchFamily="34" charset="-122"/>
                <a:cs typeface="Calibri" pitchFamily="34" charset="-120"/>
              </a:rPr>
              <a:t>c = √(T/ρ)  — tension over linear density</a:t>
            </a:r>
            <a:endParaRPr lang="en-US" sz="1300" dirty="0"/>
          </a:p>
        </p:txBody>
      </p:sp>
      <p:sp>
        <p:nvSpPr>
          <p:cNvPr id="10" name="Text 7"/>
          <p:cNvSpPr/>
          <p:nvPr/>
        </p:nvSpPr>
        <p:spPr>
          <a:xfrm>
            <a:off x="685800" y="3703320"/>
            <a:ext cx="576072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Boundary conditions (fixed ends):</a:t>
            </a:r>
            <a:endParaRPr lang="en-US" sz="1300" dirty="0"/>
          </a:p>
        </p:txBody>
      </p:sp>
      <p:pic>
        <p:nvPicPr>
          <p:cNvPr id="11" name="Image 1" descr="/home/claude/proj/figs/eq/bc.png">    </p:cNvPr>
          <p:cNvPicPr>
            <a:picLocks noChangeAspect="1"/>
          </p:cNvPicPr>
          <p:nvPr/>
        </p:nvPicPr>
        <p:blipFill>
          <a:blip r:embed="rId2"/>
          <a:stretch>
            <a:fillRect/>
          </a:stretch>
        </p:blipFill>
        <p:spPr>
          <a:xfrm>
            <a:off x="1051560" y="4005072"/>
            <a:ext cx="2651760" cy="433298"/>
          </a:xfrm>
          <a:prstGeom prst="rect">
            <a:avLst/>
          </a:prstGeom>
        </p:spPr>
      </p:pic>
      <p:sp>
        <p:nvSpPr>
          <p:cNvPr id="12" name="Text 8"/>
          <p:cNvSpPr/>
          <p:nvPr/>
        </p:nvSpPr>
        <p:spPr>
          <a:xfrm>
            <a:off x="685800" y="4526280"/>
            <a:ext cx="576072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Initial conditions (shape + velocity):</a:t>
            </a:r>
            <a:endParaRPr lang="en-US" sz="1300" dirty="0"/>
          </a:p>
        </p:txBody>
      </p:sp>
      <p:pic>
        <p:nvPicPr>
          <p:cNvPr id="13" name="Image 2" descr="/home/claude/proj/figs/eq/ic.png">    </p:cNvPr>
          <p:cNvPicPr>
            <a:picLocks noChangeAspect="1"/>
          </p:cNvPicPr>
          <p:nvPr/>
        </p:nvPicPr>
        <p:blipFill>
          <a:blip r:embed="rId3"/>
          <a:stretch>
            <a:fillRect/>
          </a:stretch>
        </p:blipFill>
        <p:spPr>
          <a:xfrm>
            <a:off x="1051560" y="4828032"/>
            <a:ext cx="3566160" cy="373734"/>
          </a:xfrm>
          <a:prstGeom prst="rect">
            <a:avLst/>
          </a:prstGeom>
        </p:spPr>
      </p:pic>
      <p:pic>
        <p:nvPicPr>
          <p:cNvPr id="14" name="Image 3" descr="/home/claude/proj/figs/frame_25.png">    </p:cNvPr>
          <p:cNvPicPr>
            <a:picLocks noChangeAspect="1"/>
          </p:cNvPicPr>
          <p:nvPr/>
        </p:nvPicPr>
        <p:blipFill>
          <a:blip r:embed="rId4"/>
          <a:srcRect l="0" r="0" t="78" b="78"/>
          <a:stretch/>
        </p:blipFill>
        <p:spPr>
          <a:xfrm>
            <a:off x="7040880" y="1554480"/>
            <a:ext cx="4663440" cy="2450592"/>
          </a:xfrm>
          <a:prstGeom prst="rect">
            <a:avLst/>
          </a:prstGeom>
        </p:spPr>
      </p:pic>
      <p:sp>
        <p:nvSpPr>
          <p:cNvPr id="15" name="Shape 9"/>
          <p:cNvSpPr/>
          <p:nvPr/>
        </p:nvSpPr>
        <p:spPr>
          <a:xfrm>
            <a:off x="7040880" y="1554480"/>
            <a:ext cx="4663440" cy="2450592"/>
          </a:xfrm>
          <a:prstGeom prst="roundRect">
            <a:avLst>
              <a:gd name="adj" fmla="val 2239"/>
            </a:avLst>
          </a:prstGeom>
          <a:ln w="12700">
            <a:solidFill>
              <a:srgbClr val="E1E6EF"/>
            </a:solidFill>
            <a:prstDash val="solid"/>
          </a:ln>
        </p:spPr>
      </p:sp>
      <p:sp>
        <p:nvSpPr>
          <p:cNvPr id="16" name="Text 10"/>
          <p:cNvSpPr/>
          <p:nvPr/>
        </p:nvSpPr>
        <p:spPr>
          <a:xfrm>
            <a:off x="7040880" y="4160520"/>
            <a:ext cx="4663440" cy="7772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The string oscillates between an upward and a downward arch — this is exactly what we reproduce numerically in Question 3.</a:t>
            </a:r>
            <a:endParaRPr lang="en-US" sz="1200" dirty="0"/>
          </a:p>
        </p:txBody>
      </p:sp>
      <p:sp>
        <p:nvSpPr>
          <p:cNvPr id="17" name="Shape 11"/>
          <p:cNvSpPr/>
          <p:nvPr/>
        </p:nvSpPr>
        <p:spPr>
          <a:xfrm>
            <a:off x="7040880" y="5074920"/>
            <a:ext cx="4663440" cy="1097280"/>
          </a:xfrm>
          <a:prstGeom prst="roundRect">
            <a:avLst>
              <a:gd name="adj" fmla="val 6667"/>
            </a:avLst>
          </a:prstGeom>
          <a:solidFill>
            <a:srgbClr val="1B2A4A"/>
          </a:solidFill>
          <a:ln/>
        </p:spPr>
      </p:sp>
      <p:sp>
        <p:nvSpPr>
          <p:cNvPr id="18" name="Text 12"/>
          <p:cNvSpPr/>
          <p:nvPr/>
        </p:nvSpPr>
        <p:spPr>
          <a:xfrm>
            <a:off x="7269480" y="5193792"/>
            <a:ext cx="4206240" cy="868680"/>
          </a:xfrm>
          <a:prstGeom prst="rect">
            <a:avLst/>
          </a:prstGeom>
          <a:noFill/>
          <a:ln/>
        </p:spPr>
        <p:txBody>
          <a:bodyPr wrap="square" lIns="0" tIns="0" rIns="0" bIns="0" rtlCol="0" anchor="ctr"/>
          <a:lstStyle/>
          <a:p>
            <a:pPr indent="0" marL="0">
              <a:buNone/>
            </a:pPr>
            <a:r>
              <a:rPr lang="en-US" sz="1200" b="1" dirty="0">
                <a:solidFill>
                  <a:srgbClr val="D46A00"/>
                </a:solidFill>
                <a:latin typeface="Calibri" pitchFamily="34" charset="0"/>
                <a:ea typeface="Calibri" pitchFamily="34" charset="-122"/>
                <a:cs typeface="Calibri" pitchFamily="34" charset="-120"/>
              </a:rPr>
              <a:t>Four project goals:  </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discretize → assemble &amp; solve → simulate &amp; validate → extend (energy + inversion).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9692640" y="2926080"/>
            <a:ext cx="5120640" cy="5120640"/>
          </a:xfrm>
          <a:prstGeom prst="ellipse">
            <a:avLst/>
          </a:prstGeom>
          <a:solidFill>
            <a:srgbClr val="1D2C4C"/>
          </a:solidFill>
          <a:ln/>
        </p:spPr>
      </p:sp>
      <p:sp>
        <p:nvSpPr>
          <p:cNvPr id="3" name="Text 1"/>
          <p:cNvSpPr/>
          <p:nvPr/>
        </p:nvSpPr>
        <p:spPr>
          <a:xfrm>
            <a:off x="914400" y="2331720"/>
            <a:ext cx="7315200" cy="411480"/>
          </a:xfrm>
          <a:prstGeom prst="rect">
            <a:avLst/>
          </a:prstGeom>
          <a:noFill/>
          <a:ln/>
        </p:spPr>
        <p:txBody>
          <a:bodyPr wrap="square" lIns="0" tIns="0" rIns="0" bIns="0" rtlCol="0" anchor="ctr"/>
          <a:lstStyle/>
          <a:p>
            <a:pPr indent="0" marL="0">
              <a:buNone/>
            </a:pPr>
            <a:r>
              <a:rPr lang="en-US" sz="1400" b="1" spc="300" kern="0" dirty="0">
                <a:solidFill>
                  <a:srgbClr val="D46A00"/>
                </a:solidFill>
                <a:latin typeface="Calibri" pitchFamily="34" charset="0"/>
                <a:ea typeface="Calibri" pitchFamily="34" charset="-122"/>
                <a:cs typeface="Calibri" pitchFamily="34" charset="-120"/>
              </a:rPr>
              <a:t>QUESTION 1</a:t>
            </a:r>
            <a:endParaRPr lang="en-US" sz="1400" dirty="0"/>
          </a:p>
        </p:txBody>
      </p:sp>
      <p:sp>
        <p:nvSpPr>
          <p:cNvPr id="4" name="Text 2"/>
          <p:cNvSpPr/>
          <p:nvPr/>
        </p:nvSpPr>
        <p:spPr>
          <a:xfrm>
            <a:off x="914400" y="2724912"/>
            <a:ext cx="987552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Finite Difference Discretization</a:t>
            </a:r>
            <a:endParaRPr lang="en-US" sz="3800" dirty="0"/>
          </a:p>
        </p:txBody>
      </p:sp>
      <p:sp>
        <p:nvSpPr>
          <p:cNvPr id="5" name="Text 3"/>
          <p:cNvSpPr/>
          <p:nvPr/>
        </p:nvSpPr>
        <p:spPr>
          <a:xfrm>
            <a:off x="914400" y="3703320"/>
            <a:ext cx="8778240" cy="640080"/>
          </a:xfrm>
          <a:prstGeom prst="rect">
            <a:avLst/>
          </a:prstGeom>
          <a:noFill/>
          <a:ln/>
        </p:spPr>
        <p:txBody>
          <a:bodyPr wrap="square" lIns="0" tIns="0" rIns="0" bIns="0" rtlCol="0" anchor="ctr"/>
          <a:lstStyle/>
          <a:p>
            <a:pPr indent="0" marL="0">
              <a:buNone/>
            </a:pPr>
            <a:r>
              <a:rPr lang="en-US" sz="1500" i="1" dirty="0">
                <a:solidFill>
                  <a:srgbClr val="AAB8D6"/>
                </a:solidFill>
                <a:latin typeface="Calibri" pitchFamily="34" charset="0"/>
                <a:ea typeface="Calibri" pitchFamily="34" charset="-122"/>
                <a:cs typeface="Calibri" pitchFamily="34" charset="-120"/>
              </a:rPr>
              <a:t>Turning the continuous wave equation into a second-order accurate, implicit numerical scheme.</a:t>
            </a:r>
            <a:endParaRPr lang="en-US" sz="1500" dirty="0"/>
          </a:p>
        </p:txBody>
      </p:sp>
      <p:sp>
        <p:nvSpPr>
          <p:cNvPr id="6" name="Text 4"/>
          <p:cNvSpPr/>
          <p:nvPr/>
        </p:nvSpPr>
        <p:spPr>
          <a:xfrm>
            <a:off x="914400" y="5989320"/>
            <a:ext cx="2743200" cy="365760"/>
          </a:xfrm>
          <a:prstGeom prst="rect">
            <a:avLst/>
          </a:prstGeom>
          <a:noFill/>
          <a:ln/>
        </p:spPr>
        <p:txBody>
          <a:bodyPr wrap="square" lIns="0" tIns="0" rIns="0" bIns="0" rtlCol="0" anchor="ctr"/>
          <a:lstStyle/>
          <a:p>
            <a:pPr indent="0" marL="0">
              <a:buNone/>
            </a:pPr>
            <a:r>
              <a:rPr lang="en-US" sz="1300" dirty="0">
                <a:solidFill>
                  <a:srgbClr val="56659A"/>
                </a:solidFill>
                <a:latin typeface="Courier New" pitchFamily="34" charset="0"/>
                <a:ea typeface="Courier New" pitchFamily="34" charset="-122"/>
                <a:cs typeface="Courier New" pitchFamily="34" charset="-120"/>
              </a:rPr>
              <a:t>01 / 05</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Q1 · DISCRETIZATION</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Centered Differences on a Space-Time Grid</a:t>
            </a:r>
            <a:endParaRPr lang="en-US" sz="3000" dirty="0"/>
          </a:p>
        </p:txBody>
      </p:sp>
      <p:sp>
        <p:nvSpPr>
          <p:cNvPr id="6" name="Shape 4"/>
          <p:cNvSpPr/>
          <p:nvPr/>
        </p:nvSpPr>
        <p:spPr>
          <a:xfrm>
            <a:off x="457200" y="1554480"/>
            <a:ext cx="4709160" cy="4617720"/>
          </a:xfrm>
          <a:prstGeom prst="roundRect">
            <a:avLst>
              <a:gd name="adj" fmla="val 1584"/>
            </a:avLst>
          </a:prstGeom>
          <a:solidFill>
            <a:srgbClr val="F3F5F9"/>
          </a:solidFill>
          <a:ln/>
        </p:spPr>
      </p:sp>
      <p:sp>
        <p:nvSpPr>
          <p:cNvPr id="7" name="Text 5"/>
          <p:cNvSpPr/>
          <p:nvPr/>
        </p:nvSpPr>
        <p:spPr>
          <a:xfrm>
            <a:off x="685800" y="1755648"/>
            <a:ext cx="42062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UNIFORM MESH</a:t>
            </a:r>
            <a:endParaRPr lang="en-US" sz="1150" dirty="0"/>
          </a:p>
        </p:txBody>
      </p:sp>
      <p:sp>
        <p:nvSpPr>
          <p:cNvPr id="8" name="Text 6"/>
          <p:cNvSpPr/>
          <p:nvPr/>
        </p:nvSpPr>
        <p:spPr>
          <a:xfrm>
            <a:off x="685800" y="2066544"/>
            <a:ext cx="4206240" cy="640080"/>
          </a:xfrm>
          <a:prstGeom prst="rect">
            <a:avLst/>
          </a:prstGeom>
          <a:noFill/>
          <a:ln/>
        </p:spPr>
        <p:txBody>
          <a:bodyPr wrap="square" lIns="0" tIns="0" rIns="0" bIns="0" rtlCol="0" anchor="ctr"/>
          <a:lstStyle/>
          <a:p>
            <a:pPr indent="0" marL="0">
              <a:buNone/>
            </a:pPr>
            <a:r>
              <a:rPr lang="en-US" sz="1300" dirty="0">
                <a:solidFill>
                  <a:srgbClr val="1E293B"/>
                </a:solidFill>
                <a:latin typeface="Courier New" pitchFamily="34" charset="0"/>
                <a:ea typeface="Courier New" pitchFamily="34" charset="-122"/>
                <a:cs typeface="Courier New" pitchFamily="34" charset="-120"/>
              </a:rPr>
              <a:t>xi = i · Δx ,   i = 0 … N ,   Δx = L / N</a:t>
            </a:r>
            <a:endParaRPr lang="en-US" sz="1300" dirty="0"/>
          </a:p>
          <a:p>
            <a:pPr indent="0" marL="0">
              <a:buNone/>
            </a:pPr>
            <a:r>
              <a:rPr lang="en-US" sz="1300" dirty="0">
                <a:solidFill>
                  <a:srgbClr val="1E293B"/>
                </a:solidFill>
                <a:latin typeface="Courier New" pitchFamily="34" charset="0"/>
                <a:ea typeface="Courier New" pitchFamily="34" charset="-122"/>
                <a:cs typeface="Courier New" pitchFamily="34" charset="-120"/>
              </a:rPr>
              <a:t>tn = n · Δt ,   n = 0, 1, 2, …</a:t>
            </a:r>
            <a:endParaRPr lang="en-US" sz="1300" dirty="0"/>
          </a:p>
        </p:txBody>
      </p:sp>
      <p:pic>
        <p:nvPicPr>
          <p:cNvPr id="9" name="Image 0" descr="/home/claude/proj/figs/mesh_placeholder.png">    </p:cNvPr>
          <p:cNvPicPr>
            <a:picLocks noChangeAspect="1"/>
          </p:cNvPicPr>
          <p:nvPr/>
        </p:nvPicPr>
        <p:blipFill>
          <a:blip r:embed="rId1"/>
          <a:stretch>
            <a:fillRect/>
          </a:stretch>
        </p:blipFill>
        <p:spPr>
          <a:xfrm>
            <a:off x="685800" y="2697480"/>
            <a:ext cx="4251960" cy="2338578"/>
          </a:xfrm>
          <a:prstGeom prst="rect">
            <a:avLst/>
          </a:prstGeom>
        </p:spPr>
      </p:pic>
      <p:sp>
        <p:nvSpPr>
          <p:cNvPr id="10" name="Text 7"/>
          <p:cNvSpPr/>
          <p:nvPr/>
        </p:nvSpPr>
        <p:spPr>
          <a:xfrm>
            <a:off x="6400800" y="1691640"/>
            <a:ext cx="530352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Time derivative — centered at level tn:</a:t>
            </a:r>
            <a:endParaRPr lang="en-US" sz="1300" dirty="0"/>
          </a:p>
        </p:txBody>
      </p:sp>
      <p:pic>
        <p:nvPicPr>
          <p:cNvPr id="11" name="Image 1" descr="/home/claude/proj/figs/eq/time_fd.png">    </p:cNvPr>
          <p:cNvPicPr>
            <a:picLocks noChangeAspect="1"/>
          </p:cNvPicPr>
          <p:nvPr/>
        </p:nvPicPr>
        <p:blipFill>
          <a:blip r:embed="rId2"/>
          <a:stretch>
            <a:fillRect/>
          </a:stretch>
        </p:blipFill>
        <p:spPr>
          <a:xfrm>
            <a:off x="6400800" y="2011680"/>
            <a:ext cx="4937760" cy="961382"/>
          </a:xfrm>
          <a:prstGeom prst="rect">
            <a:avLst/>
          </a:prstGeom>
        </p:spPr>
      </p:pic>
      <p:sp>
        <p:nvSpPr>
          <p:cNvPr id="12" name="Text 8"/>
          <p:cNvSpPr/>
          <p:nvPr/>
        </p:nvSpPr>
        <p:spPr>
          <a:xfrm>
            <a:off x="6400800" y="3127248"/>
            <a:ext cx="5303520" cy="5029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Space derivative — centered at the FUTURE level tn+1 (this is what makes the scheme implicit):</a:t>
            </a:r>
            <a:endParaRPr lang="en-US" sz="1300" dirty="0"/>
          </a:p>
        </p:txBody>
      </p:sp>
      <p:pic>
        <p:nvPicPr>
          <p:cNvPr id="13" name="Image 2" descr="/home/claude/proj/figs/eq/space_fd.png">    </p:cNvPr>
          <p:cNvPicPr>
            <a:picLocks noChangeAspect="1"/>
          </p:cNvPicPr>
          <p:nvPr/>
        </p:nvPicPr>
        <p:blipFill>
          <a:blip r:embed="rId3"/>
          <a:stretch>
            <a:fillRect/>
          </a:stretch>
        </p:blipFill>
        <p:spPr>
          <a:xfrm>
            <a:off x="6400800" y="3657600"/>
            <a:ext cx="4937760" cy="827569"/>
          </a:xfrm>
          <a:prstGeom prst="rect">
            <a:avLst/>
          </a:prstGeom>
        </p:spPr>
      </p:pic>
      <p:sp>
        <p:nvSpPr>
          <p:cNvPr id="14" name="Shape 9"/>
          <p:cNvSpPr/>
          <p:nvPr/>
        </p:nvSpPr>
        <p:spPr>
          <a:xfrm>
            <a:off x="6400800" y="4553712"/>
            <a:ext cx="5303520" cy="1618488"/>
          </a:xfrm>
          <a:prstGeom prst="roundRect">
            <a:avLst>
              <a:gd name="adj" fmla="val 4520"/>
            </a:avLst>
          </a:prstGeom>
          <a:solidFill>
            <a:srgbClr val="1B2A4A"/>
          </a:solidFill>
          <a:ln/>
        </p:spPr>
      </p:sp>
      <p:sp>
        <p:nvSpPr>
          <p:cNvPr id="15" name="Text 10"/>
          <p:cNvSpPr/>
          <p:nvPr/>
        </p:nvSpPr>
        <p:spPr>
          <a:xfrm>
            <a:off x="6629400" y="4690872"/>
            <a:ext cx="4846320" cy="13716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Both approximations are O(Δt²) and O(Δx²). </a:t>
            </a:r>
            <a:endParaRPr lang="en-US" sz="1250" dirty="0"/>
          </a:p>
          <a:p>
            <a:pPr indent="0" marL="0">
              <a:buNone/>
            </a:pPr>
            <a:r>
              <a:rPr lang="en-US" sz="1250" dirty="0">
                <a:solidFill>
                  <a:srgbClr val="C9D3E8"/>
                </a:solidFill>
                <a:latin typeface="Calibri" pitchFamily="34" charset="0"/>
                <a:ea typeface="Calibri" pitchFamily="34" charset="-122"/>
                <a:cs typeface="Calibri" pitchFamily="34" charset="-120"/>
              </a:rPr>
              <a:t>Substituting into utt = c²uxx + f and evaluating the space term at tn+1 yields the implicit scheme (next slide).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Q1 · IMPLICIT SCHEME</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Implicit Scheme — and Why It Is Implicit</a:t>
            </a:r>
            <a:endParaRPr lang="en-US" sz="3000" dirty="0"/>
          </a:p>
        </p:txBody>
      </p:sp>
      <p:sp>
        <p:nvSpPr>
          <p:cNvPr id="6" name="Shape 4"/>
          <p:cNvSpPr/>
          <p:nvPr/>
        </p:nvSpPr>
        <p:spPr>
          <a:xfrm>
            <a:off x="457200" y="1572768"/>
            <a:ext cx="11247120" cy="1417320"/>
          </a:xfrm>
          <a:prstGeom prst="roundRect">
            <a:avLst>
              <a:gd name="adj" fmla="val 5161"/>
            </a:avLst>
          </a:prstGeom>
          <a:solidFill>
            <a:srgbClr val="F3F5F9"/>
          </a:solidFill>
          <a:ln/>
        </p:spPr>
      </p:sp>
      <p:sp>
        <p:nvSpPr>
          <p:cNvPr id="7" name="Text 5"/>
          <p:cNvSpPr/>
          <p:nvPr/>
        </p:nvSpPr>
        <p:spPr>
          <a:xfrm>
            <a:off x="685800" y="1737360"/>
            <a:ext cx="731520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SUBSTITUTING BOTH APPROXIMATIONS INTO utt = c² uxx + f</a:t>
            </a:r>
            <a:endParaRPr lang="en-US" sz="1150" dirty="0"/>
          </a:p>
        </p:txBody>
      </p:sp>
      <p:pic>
        <p:nvPicPr>
          <p:cNvPr id="8" name="Image 0" descr="/home/claude/proj/figs/eq/implicit_scheme.png">    </p:cNvPr>
          <p:cNvPicPr>
            <a:picLocks noChangeAspect="1"/>
          </p:cNvPicPr>
          <p:nvPr/>
        </p:nvPicPr>
        <p:blipFill>
          <a:blip r:embed="rId1"/>
          <a:stretch>
            <a:fillRect/>
          </a:stretch>
        </p:blipFill>
        <p:spPr>
          <a:xfrm>
            <a:off x="777240" y="2029968"/>
            <a:ext cx="8138160" cy="905777"/>
          </a:xfrm>
          <a:prstGeom prst="rect">
            <a:avLst/>
          </a:prstGeom>
        </p:spPr>
      </p:pic>
      <p:sp>
        <p:nvSpPr>
          <p:cNvPr id="9" name="Text 6"/>
          <p:cNvSpPr/>
          <p:nvPr/>
        </p:nvSpPr>
        <p:spPr>
          <a:xfrm>
            <a:off x="9144000" y="2423160"/>
            <a:ext cx="237744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valid for i = 1, …, N − 1</a:t>
            </a:r>
            <a:endParaRPr lang="en-US" sz="1100" dirty="0"/>
          </a:p>
        </p:txBody>
      </p:sp>
      <p:sp>
        <p:nvSpPr>
          <p:cNvPr id="10" name="Shape 7"/>
          <p:cNvSpPr/>
          <p:nvPr/>
        </p:nvSpPr>
        <p:spPr>
          <a:xfrm>
            <a:off x="457200" y="3246120"/>
            <a:ext cx="5486400" cy="2926080"/>
          </a:xfrm>
          <a:prstGeom prst="roundRect">
            <a:avLst>
              <a:gd name="adj" fmla="val 2500"/>
            </a:avLst>
          </a:prstGeom>
          <a:solidFill>
            <a:srgbClr val="1B2A4A"/>
          </a:solidFill>
          <a:ln/>
        </p:spPr>
      </p:sp>
      <p:sp>
        <p:nvSpPr>
          <p:cNvPr id="11" name="Text 8"/>
          <p:cNvSpPr/>
          <p:nvPr/>
        </p:nvSpPr>
        <p:spPr>
          <a:xfrm>
            <a:off x="685800" y="3429000"/>
            <a:ext cx="5029200" cy="320040"/>
          </a:xfrm>
          <a:prstGeom prst="rect">
            <a:avLst/>
          </a:prstGeom>
          <a:noFill/>
          <a:ln/>
        </p:spPr>
        <p:txBody>
          <a:bodyPr wrap="square" lIns="0" tIns="0" rIns="0" bIns="0" rtlCol="0" anchor="ctr"/>
          <a:lstStyle/>
          <a:p>
            <a:pPr indent="0" marL="0">
              <a:buNone/>
            </a:pPr>
            <a:r>
              <a:rPr lang="en-US" sz="1500" b="1" dirty="0">
                <a:solidFill>
                  <a:srgbClr val="D46A00"/>
                </a:solidFill>
                <a:latin typeface="Cambria" pitchFamily="34" charset="0"/>
                <a:ea typeface="Cambria" pitchFamily="34" charset="-122"/>
                <a:cs typeface="Cambria" pitchFamily="34" charset="-120"/>
              </a:rPr>
              <a:t>Why “implicit”?</a:t>
            </a:r>
            <a:endParaRPr lang="en-US" sz="1500" dirty="0"/>
          </a:p>
        </p:txBody>
      </p:sp>
      <p:sp>
        <p:nvSpPr>
          <p:cNvPr id="12" name="Text 9"/>
          <p:cNvSpPr/>
          <p:nvPr/>
        </p:nvSpPr>
        <p:spPr>
          <a:xfrm>
            <a:off x="685800" y="3794760"/>
            <a:ext cx="5029200" cy="1371600"/>
          </a:xfrm>
          <a:prstGeom prst="rect">
            <a:avLst/>
          </a:prstGeom>
          <a:noFill/>
          <a:ln/>
        </p:spPr>
        <p:txBody>
          <a:bodyPr wrap="square" lIns="0" tIns="0" rIns="0" bIns="0" rtlCol="0" anchor="ctr"/>
          <a:lstStyle/>
          <a:p>
            <a:pPr indent="0" marL="0">
              <a:buNone/>
            </a:pPr>
            <a:r>
              <a:rPr lang="en-US" sz="1300" dirty="0">
                <a:solidFill>
                  <a:srgbClr val="E4E9F5"/>
                </a:solidFill>
                <a:latin typeface="Calibri" pitchFamily="34" charset="0"/>
                <a:ea typeface="Calibri" pitchFamily="34" charset="-122"/>
                <a:cs typeface="Calibri" pitchFamily="34" charset="-120"/>
              </a:rPr>
              <a:t>The three unknowns at t</a:t>
            </a:r>
            <a:pPr indent="0" marL="0">
              <a:buNone/>
            </a:pPr>
            <a:r>
              <a:rPr lang="en-US" sz="1300" baseline="30000" dirty="0">
                <a:solidFill>
                  <a:srgbClr val="E4E9F5"/>
                </a:solidFill>
                <a:latin typeface="Calibri" pitchFamily="34" charset="0"/>
                <a:ea typeface="Calibri" pitchFamily="34" charset="-122"/>
                <a:cs typeface="Calibri" pitchFamily="34" charset="-120"/>
              </a:rPr>
              <a:t>n+1</a:t>
            </a:r>
            <a:pPr indent="0" marL="0">
              <a:buNone/>
            </a:pPr>
            <a:r>
              <a:rPr lang="en-US" sz="1300" dirty="0">
                <a:solidFill>
                  <a:srgbClr val="E4E9F5"/>
                </a:solidFill>
                <a:latin typeface="Calibri" pitchFamily="34" charset="0"/>
                <a:ea typeface="Calibri" pitchFamily="34" charset="-122"/>
                <a:cs typeface="Calibri" pitchFamily="34" charset="-120"/>
              </a:rPr>
              <a:t> on the right-hand side are coupled — they cannot be updated one at a time.</a:t>
            </a:r>
            <a:endParaRPr lang="en-US" sz="1300" dirty="0"/>
          </a:p>
          <a:p>
            <a:pPr indent="0" marL="0">
              <a:buNone/>
            </a:pPr>
            <a:endParaRPr lang="en-US" sz="1300" dirty="0"/>
          </a:p>
          <a:p>
            <a:pPr indent="0" marL="0">
              <a:buNone/>
            </a:pPr>
            <a:r>
              <a:rPr lang="en-US" sz="1300" dirty="0">
                <a:solidFill>
                  <a:srgbClr val="E4E9F5"/>
                </a:solidFill>
                <a:latin typeface="Calibri" pitchFamily="34" charset="0"/>
                <a:ea typeface="Calibri" pitchFamily="34" charset="-122"/>
                <a:cs typeface="Calibri" pitchFamily="34" charset="-120"/>
              </a:rPr>
              <a:t>A linear system must be solved at every single time step to advance the solution.</a:t>
            </a:r>
            <a:endParaRPr lang="en-US" sz="1300" dirty="0"/>
          </a:p>
        </p:txBody>
      </p:sp>
      <p:sp>
        <p:nvSpPr>
          <p:cNvPr id="13" name="Text 10"/>
          <p:cNvSpPr/>
          <p:nvPr/>
        </p:nvSpPr>
        <p:spPr>
          <a:xfrm>
            <a:off x="685800" y="5257800"/>
            <a:ext cx="5029200" cy="320040"/>
          </a:xfrm>
          <a:prstGeom prst="rect">
            <a:avLst/>
          </a:prstGeom>
          <a:noFill/>
          <a:ln/>
        </p:spPr>
        <p:txBody>
          <a:bodyPr wrap="square" lIns="0" tIns="0" rIns="0" bIns="0" rtlCol="0" anchor="ctr"/>
          <a:lstStyle/>
          <a:p>
            <a:pPr indent="0" marL="0">
              <a:buNone/>
            </a:pPr>
            <a:r>
              <a:rPr lang="en-US" sz="1250" b="1" i="1" dirty="0">
                <a:solidFill>
                  <a:srgbClr val="8FD9C4"/>
                </a:solidFill>
                <a:latin typeface="Calibri" pitchFamily="34" charset="0"/>
                <a:ea typeface="Calibri" pitchFamily="34" charset="-122"/>
                <a:cs typeface="Calibri" pitchFamily="34" charset="-120"/>
              </a:rPr>
              <a:t>Trade-off: unconditional stability.</a:t>
            </a:r>
            <a:endParaRPr lang="en-US" sz="1250" dirty="0"/>
          </a:p>
        </p:txBody>
      </p:sp>
      <p:sp>
        <p:nvSpPr>
          <p:cNvPr id="14" name="Shape 11"/>
          <p:cNvSpPr/>
          <p:nvPr/>
        </p:nvSpPr>
        <p:spPr>
          <a:xfrm>
            <a:off x="6217920" y="3246120"/>
            <a:ext cx="5486400" cy="2926080"/>
          </a:xfrm>
          <a:prstGeom prst="roundRect">
            <a:avLst>
              <a:gd name="adj" fmla="val 2500"/>
            </a:avLst>
          </a:prstGeom>
          <a:solidFill>
            <a:srgbClr val="F3F5F9"/>
          </a:solidFill>
          <a:ln/>
        </p:spPr>
      </p:sp>
      <p:sp>
        <p:nvSpPr>
          <p:cNvPr id="15" name="Text 12"/>
          <p:cNvSpPr/>
          <p:nvPr/>
        </p:nvSpPr>
        <p:spPr>
          <a:xfrm>
            <a:off x="6446520" y="3429000"/>
            <a:ext cx="5029200"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Truncation error</a:t>
            </a:r>
            <a:endParaRPr lang="en-US" sz="1500" dirty="0"/>
          </a:p>
        </p:txBody>
      </p:sp>
      <p:pic>
        <p:nvPicPr>
          <p:cNvPr id="16" name="Image 1" descr="/home/claude/proj/figs/eq/trunc_error.png">    </p:cNvPr>
          <p:cNvPicPr>
            <a:picLocks noChangeAspect="1"/>
          </p:cNvPicPr>
          <p:nvPr/>
        </p:nvPicPr>
        <p:blipFill>
          <a:blip r:embed="rId2"/>
          <a:stretch>
            <a:fillRect/>
          </a:stretch>
        </p:blipFill>
        <p:spPr>
          <a:xfrm>
            <a:off x="6446520" y="3840480"/>
            <a:ext cx="3108960" cy="644487"/>
          </a:xfrm>
          <a:prstGeom prst="rect">
            <a:avLst/>
          </a:prstGeom>
        </p:spPr>
      </p:pic>
      <p:sp>
        <p:nvSpPr>
          <p:cNvPr id="17" name="Text 13"/>
          <p:cNvSpPr/>
          <p:nvPr/>
        </p:nvSpPr>
        <p:spPr>
          <a:xfrm>
            <a:off x="6446520" y="4572000"/>
            <a:ext cx="5029200" cy="13716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Second-order accurate in both space and time — by the Lax-Richtmyer theorem, consistency + unconditional stability ⇒ convergence.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9692640" y="2926080"/>
            <a:ext cx="5120640" cy="5120640"/>
          </a:xfrm>
          <a:prstGeom prst="ellipse">
            <a:avLst/>
          </a:prstGeom>
          <a:solidFill>
            <a:srgbClr val="1D2C4C"/>
          </a:solidFill>
          <a:ln/>
        </p:spPr>
      </p:sp>
      <p:sp>
        <p:nvSpPr>
          <p:cNvPr id="3" name="Text 1"/>
          <p:cNvSpPr/>
          <p:nvPr/>
        </p:nvSpPr>
        <p:spPr>
          <a:xfrm>
            <a:off x="914400" y="2331720"/>
            <a:ext cx="7315200" cy="411480"/>
          </a:xfrm>
          <a:prstGeom prst="rect">
            <a:avLst/>
          </a:prstGeom>
          <a:noFill/>
          <a:ln/>
        </p:spPr>
        <p:txBody>
          <a:bodyPr wrap="square" lIns="0" tIns="0" rIns="0" bIns="0" rtlCol="0" anchor="ctr"/>
          <a:lstStyle/>
          <a:p>
            <a:pPr indent="0" marL="0">
              <a:buNone/>
            </a:pPr>
            <a:r>
              <a:rPr lang="en-US" sz="1400" b="1" spc="300" kern="0" dirty="0">
                <a:solidFill>
                  <a:srgbClr val="D46A00"/>
                </a:solidFill>
                <a:latin typeface="Calibri" pitchFamily="34" charset="0"/>
                <a:ea typeface="Calibri" pitchFamily="34" charset="-122"/>
                <a:cs typeface="Calibri" pitchFamily="34" charset="-120"/>
              </a:rPr>
              <a:t>QUESTION 2</a:t>
            </a:r>
            <a:endParaRPr lang="en-US" sz="1400" dirty="0"/>
          </a:p>
        </p:txBody>
      </p:sp>
      <p:sp>
        <p:nvSpPr>
          <p:cNvPr id="4" name="Text 2"/>
          <p:cNvSpPr/>
          <p:nvPr/>
        </p:nvSpPr>
        <p:spPr>
          <a:xfrm>
            <a:off x="914400" y="2724912"/>
            <a:ext cx="987552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Matrix Formulation &amp; the LU Solver</a:t>
            </a:r>
            <a:endParaRPr lang="en-US" sz="3800" dirty="0"/>
          </a:p>
        </p:txBody>
      </p:sp>
      <p:sp>
        <p:nvSpPr>
          <p:cNvPr id="5" name="Text 3"/>
          <p:cNvSpPr/>
          <p:nvPr/>
        </p:nvSpPr>
        <p:spPr>
          <a:xfrm>
            <a:off x="914400" y="3703320"/>
            <a:ext cx="8778240" cy="640080"/>
          </a:xfrm>
          <a:prstGeom prst="rect">
            <a:avLst/>
          </a:prstGeom>
          <a:noFill/>
          <a:ln/>
        </p:spPr>
        <p:txBody>
          <a:bodyPr wrap="square" lIns="0" tIns="0" rIns="0" bIns="0" rtlCol="0" anchor="ctr"/>
          <a:lstStyle/>
          <a:p>
            <a:pPr indent="0" marL="0">
              <a:buNone/>
            </a:pPr>
            <a:r>
              <a:rPr lang="en-US" sz="1500" i="1" dirty="0">
                <a:solidFill>
                  <a:srgbClr val="AAB8D6"/>
                </a:solidFill>
                <a:latin typeface="Calibri" pitchFamily="34" charset="0"/>
                <a:ea typeface="Calibri" pitchFamily="34" charset="-122"/>
                <a:cs typeface="Calibri" pitchFamily="34" charset="-120"/>
              </a:rPr>
              <a:t>Casting the implicit scheme as a tridiagonal linear system and exploiting its structure.</a:t>
            </a:r>
            <a:endParaRPr lang="en-US" sz="1500" dirty="0"/>
          </a:p>
        </p:txBody>
      </p:sp>
      <p:sp>
        <p:nvSpPr>
          <p:cNvPr id="6" name="Text 4"/>
          <p:cNvSpPr/>
          <p:nvPr/>
        </p:nvSpPr>
        <p:spPr>
          <a:xfrm>
            <a:off x="914400" y="5989320"/>
            <a:ext cx="2743200" cy="365760"/>
          </a:xfrm>
          <a:prstGeom prst="rect">
            <a:avLst/>
          </a:prstGeom>
          <a:noFill/>
          <a:ln/>
        </p:spPr>
        <p:txBody>
          <a:bodyPr wrap="square" lIns="0" tIns="0" rIns="0" bIns="0" rtlCol="0" anchor="ctr"/>
          <a:lstStyle/>
          <a:p>
            <a:pPr indent="0" marL="0">
              <a:buNone/>
            </a:pPr>
            <a:r>
              <a:rPr lang="en-US" sz="1300" dirty="0">
                <a:solidFill>
                  <a:srgbClr val="56659A"/>
                </a:solidFill>
                <a:latin typeface="Courier New" pitchFamily="34" charset="0"/>
                <a:ea typeface="Courier New" pitchFamily="34" charset="-122"/>
                <a:cs typeface="Courier New" pitchFamily="34" charset="-120"/>
              </a:rPr>
              <a:t>02 / 05</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Q2 · MATRIX SYSTEM</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From Stencil to a Tridiagonal System</a:t>
            </a:r>
            <a:endParaRPr lang="en-US" sz="3000" dirty="0"/>
          </a:p>
        </p:txBody>
      </p:sp>
      <p:sp>
        <p:nvSpPr>
          <p:cNvPr id="6" name="Shape 4"/>
          <p:cNvSpPr/>
          <p:nvPr/>
        </p:nvSpPr>
        <p:spPr>
          <a:xfrm>
            <a:off x="457200" y="1572768"/>
            <a:ext cx="5212080" cy="2148840"/>
          </a:xfrm>
          <a:prstGeom prst="roundRect">
            <a:avLst>
              <a:gd name="adj" fmla="val 3404"/>
            </a:avLst>
          </a:prstGeom>
          <a:solidFill>
            <a:srgbClr val="F3F5F9"/>
          </a:solidFill>
          <a:ln/>
        </p:spPr>
      </p:sp>
      <p:sp>
        <p:nvSpPr>
          <p:cNvPr id="7" name="Text 5"/>
          <p:cNvSpPr/>
          <p:nvPr/>
        </p:nvSpPr>
        <p:spPr>
          <a:xfrm>
            <a:off x="685800" y="1737360"/>
            <a:ext cx="411480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STIFFNESS RATIO</a:t>
            </a:r>
            <a:endParaRPr lang="en-US" sz="1150" dirty="0"/>
          </a:p>
        </p:txBody>
      </p:sp>
      <p:pic>
        <p:nvPicPr>
          <p:cNvPr id="8" name="Image 0" descr="/home/claude/proj/figs/eq/r_def.png">    </p:cNvPr>
          <p:cNvPicPr>
            <a:picLocks noChangeAspect="1"/>
          </p:cNvPicPr>
          <p:nvPr/>
        </p:nvPicPr>
        <p:blipFill>
          <a:blip r:embed="rId1"/>
          <a:stretch>
            <a:fillRect/>
          </a:stretch>
        </p:blipFill>
        <p:spPr>
          <a:xfrm>
            <a:off x="868680" y="2048256"/>
            <a:ext cx="2377440" cy="1353239"/>
          </a:xfrm>
          <a:prstGeom prst="rect">
            <a:avLst/>
          </a:prstGeom>
        </p:spPr>
      </p:pic>
      <p:sp>
        <p:nvSpPr>
          <p:cNvPr id="9" name="Text 6"/>
          <p:cNvSpPr/>
          <p:nvPr/>
        </p:nvSpPr>
        <p:spPr>
          <a:xfrm>
            <a:off x="685800" y="3063240"/>
            <a:ext cx="4754880" cy="5486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Rearranging the implicit scheme, grouping all tn+1 terms on the left:</a:t>
            </a:r>
            <a:endParaRPr lang="en-US" sz="1200" dirty="0"/>
          </a:p>
        </p:txBody>
      </p:sp>
      <p:sp>
        <p:nvSpPr>
          <p:cNvPr id="10" name="Shape 7"/>
          <p:cNvSpPr/>
          <p:nvPr/>
        </p:nvSpPr>
        <p:spPr>
          <a:xfrm>
            <a:off x="457200" y="3840480"/>
            <a:ext cx="5212080" cy="2331720"/>
          </a:xfrm>
          <a:prstGeom prst="roundRect">
            <a:avLst>
              <a:gd name="adj" fmla="val 3137"/>
            </a:avLst>
          </a:prstGeom>
          <a:solidFill>
            <a:srgbClr val="1B2A4A"/>
          </a:solidFill>
          <a:ln/>
        </p:spPr>
      </p:sp>
      <p:pic>
        <p:nvPicPr>
          <p:cNvPr id="11" name="Image 1" descr="/home/claude/proj/figs/eq/rearranged_w.png">    </p:cNvPr>
          <p:cNvPicPr>
            <a:picLocks noChangeAspect="1"/>
          </p:cNvPicPr>
          <p:nvPr/>
        </p:nvPicPr>
        <p:blipFill>
          <a:blip r:embed="rId2"/>
          <a:stretch>
            <a:fillRect/>
          </a:stretch>
        </p:blipFill>
        <p:spPr>
          <a:xfrm>
            <a:off x="658368" y="4041648"/>
            <a:ext cx="4846320" cy="308711"/>
          </a:xfrm>
          <a:prstGeom prst="rect">
            <a:avLst/>
          </a:prstGeom>
        </p:spPr>
      </p:pic>
      <p:sp>
        <p:nvSpPr>
          <p:cNvPr id="12" name="Text 8"/>
          <p:cNvSpPr/>
          <p:nvPr/>
        </p:nvSpPr>
        <p:spPr>
          <a:xfrm>
            <a:off x="658368" y="4892040"/>
            <a:ext cx="4846320" cy="640080"/>
          </a:xfrm>
          <a:prstGeom prst="rect">
            <a:avLst/>
          </a:prstGeom>
          <a:noFill/>
          <a:ln/>
        </p:spPr>
        <p:txBody>
          <a:bodyPr wrap="square" lIns="0" tIns="0" rIns="0" bIns="0" rtlCol="0" anchor="ctr"/>
          <a:lstStyle/>
          <a:p>
            <a:pPr indent="0" marL="0">
              <a:buNone/>
            </a:pPr>
            <a:r>
              <a:rPr lang="en-US" sz="1100" i="1" dirty="0">
                <a:solidFill>
                  <a:srgbClr val="AEB9D6"/>
                </a:solidFill>
                <a:latin typeface="Calibri" pitchFamily="34" charset="0"/>
                <a:ea typeface="Calibri" pitchFamily="34" charset="-122"/>
                <a:cs typeface="Calibri" pitchFamily="34" charset="-120"/>
              </a:rPr>
              <a:t>valid for i = 1, …, N − 1  —  boundary values u₀ = uN = 0 close the system.</a:t>
            </a:r>
            <a:endParaRPr lang="en-US" sz="1100" dirty="0"/>
          </a:p>
        </p:txBody>
      </p:sp>
      <p:sp>
        <p:nvSpPr>
          <p:cNvPr id="13" name="Shape 9"/>
          <p:cNvSpPr/>
          <p:nvPr/>
        </p:nvSpPr>
        <p:spPr>
          <a:xfrm>
            <a:off x="5943600" y="1572768"/>
            <a:ext cx="5760720" cy="4599432"/>
          </a:xfrm>
          <a:prstGeom prst="roundRect">
            <a:avLst>
              <a:gd name="adj" fmla="val 1590"/>
            </a:avLst>
          </a:prstGeom>
          <a:solidFill>
            <a:srgbClr val="F3F5F9"/>
          </a:solidFill>
          <a:ln/>
        </p:spPr>
      </p:sp>
      <p:sp>
        <p:nvSpPr>
          <p:cNvPr id="14" name="Text 10"/>
          <p:cNvSpPr/>
          <p:nvPr/>
        </p:nvSpPr>
        <p:spPr>
          <a:xfrm>
            <a:off x="6172200" y="1755648"/>
            <a:ext cx="502920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RESULTING MATRIX SYSTEM</a:t>
            </a:r>
            <a:endParaRPr lang="en-US" sz="1150" dirty="0"/>
          </a:p>
        </p:txBody>
      </p:sp>
      <p:pic>
        <p:nvPicPr>
          <p:cNvPr id="15" name="Image 2" descr="/home/claude/proj/figs/eq/matrix_eq.png">    </p:cNvPr>
          <p:cNvPicPr>
            <a:picLocks noChangeAspect="1"/>
          </p:cNvPicPr>
          <p:nvPr/>
        </p:nvPicPr>
        <p:blipFill>
          <a:blip r:embed="rId3"/>
          <a:stretch>
            <a:fillRect/>
          </a:stretch>
        </p:blipFill>
        <p:spPr>
          <a:xfrm>
            <a:off x="6309360" y="2084832"/>
            <a:ext cx="3291840" cy="358811"/>
          </a:xfrm>
          <a:prstGeom prst="rect">
            <a:avLst/>
          </a:prstGeom>
        </p:spPr>
      </p:pic>
      <p:sp>
        <p:nvSpPr>
          <p:cNvPr id="16" name="Text 11"/>
          <p:cNvSpPr/>
          <p:nvPr/>
        </p:nvSpPr>
        <p:spPr>
          <a:xfrm>
            <a:off x="6172200" y="2651760"/>
            <a:ext cx="5303520" cy="3200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 is the tridiagonal (N−1)×(N−1) matrix:</a:t>
            </a:r>
            <a:endParaRPr lang="en-US" sz="1250" dirty="0"/>
          </a:p>
        </p:txBody>
      </p:sp>
      <p:sp>
        <p:nvSpPr>
          <p:cNvPr id="17" name="Shape 12"/>
          <p:cNvSpPr/>
          <p:nvPr/>
        </p:nvSpPr>
        <p:spPr>
          <a:xfrm>
            <a:off x="6309360" y="3063240"/>
            <a:ext cx="402336" cy="402336"/>
          </a:xfrm>
          <a:prstGeom prst="rect">
            <a:avLst/>
          </a:prstGeom>
          <a:solidFill>
            <a:srgbClr val="D46A00"/>
          </a:solidFill>
          <a:ln w="9525">
            <a:solidFill>
              <a:srgbClr val="CBD5E1"/>
            </a:solidFill>
            <a:prstDash val="solid"/>
          </a:ln>
        </p:spPr>
      </p:sp>
      <p:sp>
        <p:nvSpPr>
          <p:cNvPr id="18" name="Text 13"/>
          <p:cNvSpPr/>
          <p:nvPr/>
        </p:nvSpPr>
        <p:spPr>
          <a:xfrm>
            <a:off x="6309360" y="3063240"/>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1+2r</a:t>
            </a:r>
            <a:endParaRPr lang="en-US" sz="750" dirty="0"/>
          </a:p>
        </p:txBody>
      </p:sp>
      <p:sp>
        <p:nvSpPr>
          <p:cNvPr id="19" name="Shape 14"/>
          <p:cNvSpPr/>
          <p:nvPr/>
        </p:nvSpPr>
        <p:spPr>
          <a:xfrm>
            <a:off x="6711696" y="3063240"/>
            <a:ext cx="402336" cy="402336"/>
          </a:xfrm>
          <a:prstGeom prst="rect">
            <a:avLst/>
          </a:prstGeom>
          <a:solidFill>
            <a:srgbClr val="0F6E6A"/>
          </a:solidFill>
          <a:ln w="9525">
            <a:solidFill>
              <a:srgbClr val="CBD5E1"/>
            </a:solidFill>
            <a:prstDash val="solid"/>
          </a:ln>
        </p:spPr>
      </p:sp>
      <p:sp>
        <p:nvSpPr>
          <p:cNvPr id="20" name="Text 15"/>
          <p:cNvSpPr/>
          <p:nvPr/>
        </p:nvSpPr>
        <p:spPr>
          <a:xfrm>
            <a:off x="6711696" y="3063240"/>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−r</a:t>
            </a:r>
            <a:endParaRPr lang="en-US" sz="750" dirty="0"/>
          </a:p>
        </p:txBody>
      </p:sp>
      <p:sp>
        <p:nvSpPr>
          <p:cNvPr id="21" name="Shape 16"/>
          <p:cNvSpPr/>
          <p:nvPr/>
        </p:nvSpPr>
        <p:spPr>
          <a:xfrm>
            <a:off x="7114032" y="3063240"/>
            <a:ext cx="402336" cy="402336"/>
          </a:xfrm>
          <a:prstGeom prst="rect">
            <a:avLst/>
          </a:prstGeom>
          <a:solidFill>
            <a:srgbClr val="FFFFFF"/>
          </a:solidFill>
          <a:ln w="9525">
            <a:solidFill>
              <a:srgbClr val="CBD5E1"/>
            </a:solidFill>
            <a:prstDash val="solid"/>
          </a:ln>
        </p:spPr>
      </p:sp>
      <p:sp>
        <p:nvSpPr>
          <p:cNvPr id="22" name="Shape 17"/>
          <p:cNvSpPr/>
          <p:nvPr/>
        </p:nvSpPr>
        <p:spPr>
          <a:xfrm>
            <a:off x="7516368" y="3063240"/>
            <a:ext cx="402336" cy="402336"/>
          </a:xfrm>
          <a:prstGeom prst="rect">
            <a:avLst/>
          </a:prstGeom>
          <a:solidFill>
            <a:srgbClr val="FFFFFF"/>
          </a:solidFill>
          <a:ln w="9525">
            <a:solidFill>
              <a:srgbClr val="CBD5E1"/>
            </a:solidFill>
            <a:prstDash val="solid"/>
          </a:ln>
        </p:spPr>
      </p:sp>
      <p:sp>
        <p:nvSpPr>
          <p:cNvPr id="23" name="Shape 18"/>
          <p:cNvSpPr/>
          <p:nvPr/>
        </p:nvSpPr>
        <p:spPr>
          <a:xfrm>
            <a:off x="7918704" y="3063240"/>
            <a:ext cx="402336" cy="402336"/>
          </a:xfrm>
          <a:prstGeom prst="rect">
            <a:avLst/>
          </a:prstGeom>
          <a:solidFill>
            <a:srgbClr val="FFFFFF"/>
          </a:solidFill>
          <a:ln w="9525">
            <a:solidFill>
              <a:srgbClr val="CBD5E1"/>
            </a:solidFill>
            <a:prstDash val="solid"/>
          </a:ln>
        </p:spPr>
      </p:sp>
      <p:sp>
        <p:nvSpPr>
          <p:cNvPr id="24" name="Shape 19"/>
          <p:cNvSpPr/>
          <p:nvPr/>
        </p:nvSpPr>
        <p:spPr>
          <a:xfrm>
            <a:off x="6309360" y="3465576"/>
            <a:ext cx="402336" cy="402336"/>
          </a:xfrm>
          <a:prstGeom prst="rect">
            <a:avLst/>
          </a:prstGeom>
          <a:solidFill>
            <a:srgbClr val="0F6E6A"/>
          </a:solidFill>
          <a:ln w="9525">
            <a:solidFill>
              <a:srgbClr val="CBD5E1"/>
            </a:solidFill>
            <a:prstDash val="solid"/>
          </a:ln>
        </p:spPr>
      </p:sp>
      <p:sp>
        <p:nvSpPr>
          <p:cNvPr id="25" name="Text 20"/>
          <p:cNvSpPr/>
          <p:nvPr/>
        </p:nvSpPr>
        <p:spPr>
          <a:xfrm>
            <a:off x="6309360" y="3465576"/>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−r</a:t>
            </a:r>
            <a:endParaRPr lang="en-US" sz="750" dirty="0"/>
          </a:p>
        </p:txBody>
      </p:sp>
      <p:sp>
        <p:nvSpPr>
          <p:cNvPr id="26" name="Shape 21"/>
          <p:cNvSpPr/>
          <p:nvPr/>
        </p:nvSpPr>
        <p:spPr>
          <a:xfrm>
            <a:off x="6711696" y="3465576"/>
            <a:ext cx="402336" cy="402336"/>
          </a:xfrm>
          <a:prstGeom prst="rect">
            <a:avLst/>
          </a:prstGeom>
          <a:solidFill>
            <a:srgbClr val="D46A00"/>
          </a:solidFill>
          <a:ln w="9525">
            <a:solidFill>
              <a:srgbClr val="CBD5E1"/>
            </a:solidFill>
            <a:prstDash val="solid"/>
          </a:ln>
        </p:spPr>
      </p:sp>
      <p:sp>
        <p:nvSpPr>
          <p:cNvPr id="27" name="Text 22"/>
          <p:cNvSpPr/>
          <p:nvPr/>
        </p:nvSpPr>
        <p:spPr>
          <a:xfrm>
            <a:off x="6711696" y="3465576"/>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1+2r</a:t>
            </a:r>
            <a:endParaRPr lang="en-US" sz="750" dirty="0"/>
          </a:p>
        </p:txBody>
      </p:sp>
      <p:sp>
        <p:nvSpPr>
          <p:cNvPr id="28" name="Shape 23"/>
          <p:cNvSpPr/>
          <p:nvPr/>
        </p:nvSpPr>
        <p:spPr>
          <a:xfrm>
            <a:off x="7114032" y="3465576"/>
            <a:ext cx="402336" cy="402336"/>
          </a:xfrm>
          <a:prstGeom prst="rect">
            <a:avLst/>
          </a:prstGeom>
          <a:solidFill>
            <a:srgbClr val="0F6E6A"/>
          </a:solidFill>
          <a:ln w="9525">
            <a:solidFill>
              <a:srgbClr val="CBD5E1"/>
            </a:solidFill>
            <a:prstDash val="solid"/>
          </a:ln>
        </p:spPr>
      </p:sp>
      <p:sp>
        <p:nvSpPr>
          <p:cNvPr id="29" name="Text 24"/>
          <p:cNvSpPr/>
          <p:nvPr/>
        </p:nvSpPr>
        <p:spPr>
          <a:xfrm>
            <a:off x="7114032" y="3465576"/>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−r</a:t>
            </a:r>
            <a:endParaRPr lang="en-US" sz="750" dirty="0"/>
          </a:p>
        </p:txBody>
      </p:sp>
      <p:sp>
        <p:nvSpPr>
          <p:cNvPr id="30" name="Shape 25"/>
          <p:cNvSpPr/>
          <p:nvPr/>
        </p:nvSpPr>
        <p:spPr>
          <a:xfrm>
            <a:off x="7516368" y="3465576"/>
            <a:ext cx="402336" cy="402336"/>
          </a:xfrm>
          <a:prstGeom prst="rect">
            <a:avLst/>
          </a:prstGeom>
          <a:solidFill>
            <a:srgbClr val="FFFFFF"/>
          </a:solidFill>
          <a:ln w="9525">
            <a:solidFill>
              <a:srgbClr val="CBD5E1"/>
            </a:solidFill>
            <a:prstDash val="solid"/>
          </a:ln>
        </p:spPr>
      </p:sp>
      <p:sp>
        <p:nvSpPr>
          <p:cNvPr id="31" name="Shape 26"/>
          <p:cNvSpPr/>
          <p:nvPr/>
        </p:nvSpPr>
        <p:spPr>
          <a:xfrm>
            <a:off x="7918704" y="3465576"/>
            <a:ext cx="402336" cy="402336"/>
          </a:xfrm>
          <a:prstGeom prst="rect">
            <a:avLst/>
          </a:prstGeom>
          <a:solidFill>
            <a:srgbClr val="FFFFFF"/>
          </a:solidFill>
          <a:ln w="9525">
            <a:solidFill>
              <a:srgbClr val="CBD5E1"/>
            </a:solidFill>
            <a:prstDash val="solid"/>
          </a:ln>
        </p:spPr>
      </p:sp>
      <p:sp>
        <p:nvSpPr>
          <p:cNvPr id="32" name="Shape 27"/>
          <p:cNvSpPr/>
          <p:nvPr/>
        </p:nvSpPr>
        <p:spPr>
          <a:xfrm>
            <a:off x="6309360" y="3867912"/>
            <a:ext cx="402336" cy="402336"/>
          </a:xfrm>
          <a:prstGeom prst="rect">
            <a:avLst/>
          </a:prstGeom>
          <a:solidFill>
            <a:srgbClr val="FFFFFF"/>
          </a:solidFill>
          <a:ln w="9525">
            <a:solidFill>
              <a:srgbClr val="CBD5E1"/>
            </a:solidFill>
            <a:prstDash val="solid"/>
          </a:ln>
        </p:spPr>
      </p:sp>
      <p:sp>
        <p:nvSpPr>
          <p:cNvPr id="33" name="Shape 28"/>
          <p:cNvSpPr/>
          <p:nvPr/>
        </p:nvSpPr>
        <p:spPr>
          <a:xfrm>
            <a:off x="6711696" y="3867912"/>
            <a:ext cx="402336" cy="402336"/>
          </a:xfrm>
          <a:prstGeom prst="rect">
            <a:avLst/>
          </a:prstGeom>
          <a:solidFill>
            <a:srgbClr val="0F6E6A"/>
          </a:solidFill>
          <a:ln w="9525">
            <a:solidFill>
              <a:srgbClr val="CBD5E1"/>
            </a:solidFill>
            <a:prstDash val="solid"/>
          </a:ln>
        </p:spPr>
      </p:sp>
      <p:sp>
        <p:nvSpPr>
          <p:cNvPr id="34" name="Text 29"/>
          <p:cNvSpPr/>
          <p:nvPr/>
        </p:nvSpPr>
        <p:spPr>
          <a:xfrm>
            <a:off x="6711696" y="3867912"/>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−r</a:t>
            </a:r>
            <a:endParaRPr lang="en-US" sz="750" dirty="0"/>
          </a:p>
        </p:txBody>
      </p:sp>
      <p:sp>
        <p:nvSpPr>
          <p:cNvPr id="35" name="Shape 30"/>
          <p:cNvSpPr/>
          <p:nvPr/>
        </p:nvSpPr>
        <p:spPr>
          <a:xfrm>
            <a:off x="7114032" y="3867912"/>
            <a:ext cx="402336" cy="402336"/>
          </a:xfrm>
          <a:prstGeom prst="rect">
            <a:avLst/>
          </a:prstGeom>
          <a:solidFill>
            <a:srgbClr val="D46A00"/>
          </a:solidFill>
          <a:ln w="9525">
            <a:solidFill>
              <a:srgbClr val="CBD5E1"/>
            </a:solidFill>
            <a:prstDash val="solid"/>
          </a:ln>
        </p:spPr>
      </p:sp>
      <p:sp>
        <p:nvSpPr>
          <p:cNvPr id="36" name="Text 31"/>
          <p:cNvSpPr/>
          <p:nvPr/>
        </p:nvSpPr>
        <p:spPr>
          <a:xfrm>
            <a:off x="7114032" y="3867912"/>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1+2r</a:t>
            </a:r>
            <a:endParaRPr lang="en-US" sz="750" dirty="0"/>
          </a:p>
        </p:txBody>
      </p:sp>
      <p:sp>
        <p:nvSpPr>
          <p:cNvPr id="37" name="Shape 32"/>
          <p:cNvSpPr/>
          <p:nvPr/>
        </p:nvSpPr>
        <p:spPr>
          <a:xfrm>
            <a:off x="7516368" y="3867912"/>
            <a:ext cx="402336" cy="402336"/>
          </a:xfrm>
          <a:prstGeom prst="rect">
            <a:avLst/>
          </a:prstGeom>
          <a:solidFill>
            <a:srgbClr val="0F6E6A"/>
          </a:solidFill>
          <a:ln w="9525">
            <a:solidFill>
              <a:srgbClr val="CBD5E1"/>
            </a:solidFill>
            <a:prstDash val="solid"/>
          </a:ln>
        </p:spPr>
      </p:sp>
      <p:sp>
        <p:nvSpPr>
          <p:cNvPr id="38" name="Text 33"/>
          <p:cNvSpPr/>
          <p:nvPr/>
        </p:nvSpPr>
        <p:spPr>
          <a:xfrm>
            <a:off x="7516368" y="3867912"/>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−r</a:t>
            </a:r>
            <a:endParaRPr lang="en-US" sz="750" dirty="0"/>
          </a:p>
        </p:txBody>
      </p:sp>
      <p:sp>
        <p:nvSpPr>
          <p:cNvPr id="39" name="Shape 34"/>
          <p:cNvSpPr/>
          <p:nvPr/>
        </p:nvSpPr>
        <p:spPr>
          <a:xfrm>
            <a:off x="7918704" y="3867912"/>
            <a:ext cx="402336" cy="402336"/>
          </a:xfrm>
          <a:prstGeom prst="rect">
            <a:avLst/>
          </a:prstGeom>
          <a:solidFill>
            <a:srgbClr val="FFFFFF"/>
          </a:solidFill>
          <a:ln w="9525">
            <a:solidFill>
              <a:srgbClr val="CBD5E1"/>
            </a:solidFill>
            <a:prstDash val="solid"/>
          </a:ln>
        </p:spPr>
      </p:sp>
      <p:sp>
        <p:nvSpPr>
          <p:cNvPr id="40" name="Shape 35"/>
          <p:cNvSpPr/>
          <p:nvPr/>
        </p:nvSpPr>
        <p:spPr>
          <a:xfrm>
            <a:off x="6309360" y="4270248"/>
            <a:ext cx="402336" cy="402336"/>
          </a:xfrm>
          <a:prstGeom prst="rect">
            <a:avLst/>
          </a:prstGeom>
          <a:solidFill>
            <a:srgbClr val="FFFFFF"/>
          </a:solidFill>
          <a:ln w="9525">
            <a:solidFill>
              <a:srgbClr val="CBD5E1"/>
            </a:solidFill>
            <a:prstDash val="solid"/>
          </a:ln>
        </p:spPr>
      </p:sp>
      <p:sp>
        <p:nvSpPr>
          <p:cNvPr id="41" name="Shape 36"/>
          <p:cNvSpPr/>
          <p:nvPr/>
        </p:nvSpPr>
        <p:spPr>
          <a:xfrm>
            <a:off x="6711696" y="4270248"/>
            <a:ext cx="402336" cy="402336"/>
          </a:xfrm>
          <a:prstGeom prst="rect">
            <a:avLst/>
          </a:prstGeom>
          <a:solidFill>
            <a:srgbClr val="FFFFFF"/>
          </a:solidFill>
          <a:ln w="9525">
            <a:solidFill>
              <a:srgbClr val="CBD5E1"/>
            </a:solidFill>
            <a:prstDash val="solid"/>
          </a:ln>
        </p:spPr>
      </p:sp>
      <p:sp>
        <p:nvSpPr>
          <p:cNvPr id="42" name="Shape 37"/>
          <p:cNvSpPr/>
          <p:nvPr/>
        </p:nvSpPr>
        <p:spPr>
          <a:xfrm>
            <a:off x="7114032" y="4270248"/>
            <a:ext cx="402336" cy="402336"/>
          </a:xfrm>
          <a:prstGeom prst="rect">
            <a:avLst/>
          </a:prstGeom>
          <a:solidFill>
            <a:srgbClr val="0F6E6A"/>
          </a:solidFill>
          <a:ln w="9525">
            <a:solidFill>
              <a:srgbClr val="CBD5E1"/>
            </a:solidFill>
            <a:prstDash val="solid"/>
          </a:ln>
        </p:spPr>
      </p:sp>
      <p:sp>
        <p:nvSpPr>
          <p:cNvPr id="43" name="Text 38"/>
          <p:cNvSpPr/>
          <p:nvPr/>
        </p:nvSpPr>
        <p:spPr>
          <a:xfrm>
            <a:off x="7114032" y="4270248"/>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−r</a:t>
            </a:r>
            <a:endParaRPr lang="en-US" sz="750" dirty="0"/>
          </a:p>
        </p:txBody>
      </p:sp>
      <p:sp>
        <p:nvSpPr>
          <p:cNvPr id="44" name="Shape 39"/>
          <p:cNvSpPr/>
          <p:nvPr/>
        </p:nvSpPr>
        <p:spPr>
          <a:xfrm>
            <a:off x="7516368" y="4270248"/>
            <a:ext cx="402336" cy="402336"/>
          </a:xfrm>
          <a:prstGeom prst="rect">
            <a:avLst/>
          </a:prstGeom>
          <a:solidFill>
            <a:srgbClr val="D46A00"/>
          </a:solidFill>
          <a:ln w="9525">
            <a:solidFill>
              <a:srgbClr val="CBD5E1"/>
            </a:solidFill>
            <a:prstDash val="solid"/>
          </a:ln>
        </p:spPr>
      </p:sp>
      <p:sp>
        <p:nvSpPr>
          <p:cNvPr id="45" name="Text 40"/>
          <p:cNvSpPr/>
          <p:nvPr/>
        </p:nvSpPr>
        <p:spPr>
          <a:xfrm>
            <a:off x="7516368" y="4270248"/>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1+2r</a:t>
            </a:r>
            <a:endParaRPr lang="en-US" sz="750" dirty="0"/>
          </a:p>
        </p:txBody>
      </p:sp>
      <p:sp>
        <p:nvSpPr>
          <p:cNvPr id="46" name="Shape 41"/>
          <p:cNvSpPr/>
          <p:nvPr/>
        </p:nvSpPr>
        <p:spPr>
          <a:xfrm>
            <a:off x="7918704" y="4270248"/>
            <a:ext cx="402336" cy="402336"/>
          </a:xfrm>
          <a:prstGeom prst="rect">
            <a:avLst/>
          </a:prstGeom>
          <a:solidFill>
            <a:srgbClr val="0F6E6A"/>
          </a:solidFill>
          <a:ln w="9525">
            <a:solidFill>
              <a:srgbClr val="CBD5E1"/>
            </a:solidFill>
            <a:prstDash val="solid"/>
          </a:ln>
        </p:spPr>
      </p:sp>
      <p:sp>
        <p:nvSpPr>
          <p:cNvPr id="47" name="Text 42"/>
          <p:cNvSpPr/>
          <p:nvPr/>
        </p:nvSpPr>
        <p:spPr>
          <a:xfrm>
            <a:off x="7918704" y="4270248"/>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−r</a:t>
            </a:r>
            <a:endParaRPr lang="en-US" sz="750" dirty="0"/>
          </a:p>
        </p:txBody>
      </p:sp>
      <p:sp>
        <p:nvSpPr>
          <p:cNvPr id="48" name="Shape 43"/>
          <p:cNvSpPr/>
          <p:nvPr/>
        </p:nvSpPr>
        <p:spPr>
          <a:xfrm>
            <a:off x="6309360" y="4672584"/>
            <a:ext cx="402336" cy="402336"/>
          </a:xfrm>
          <a:prstGeom prst="rect">
            <a:avLst/>
          </a:prstGeom>
          <a:solidFill>
            <a:srgbClr val="FFFFFF"/>
          </a:solidFill>
          <a:ln w="9525">
            <a:solidFill>
              <a:srgbClr val="CBD5E1"/>
            </a:solidFill>
            <a:prstDash val="solid"/>
          </a:ln>
        </p:spPr>
      </p:sp>
      <p:sp>
        <p:nvSpPr>
          <p:cNvPr id="49" name="Shape 44"/>
          <p:cNvSpPr/>
          <p:nvPr/>
        </p:nvSpPr>
        <p:spPr>
          <a:xfrm>
            <a:off x="6711696" y="4672584"/>
            <a:ext cx="402336" cy="402336"/>
          </a:xfrm>
          <a:prstGeom prst="rect">
            <a:avLst/>
          </a:prstGeom>
          <a:solidFill>
            <a:srgbClr val="FFFFFF"/>
          </a:solidFill>
          <a:ln w="9525">
            <a:solidFill>
              <a:srgbClr val="CBD5E1"/>
            </a:solidFill>
            <a:prstDash val="solid"/>
          </a:ln>
        </p:spPr>
      </p:sp>
      <p:sp>
        <p:nvSpPr>
          <p:cNvPr id="50" name="Shape 45"/>
          <p:cNvSpPr/>
          <p:nvPr/>
        </p:nvSpPr>
        <p:spPr>
          <a:xfrm>
            <a:off x="7114032" y="4672584"/>
            <a:ext cx="402336" cy="402336"/>
          </a:xfrm>
          <a:prstGeom prst="rect">
            <a:avLst/>
          </a:prstGeom>
          <a:solidFill>
            <a:srgbClr val="FFFFFF"/>
          </a:solidFill>
          <a:ln w="9525">
            <a:solidFill>
              <a:srgbClr val="CBD5E1"/>
            </a:solidFill>
            <a:prstDash val="solid"/>
          </a:ln>
        </p:spPr>
      </p:sp>
      <p:sp>
        <p:nvSpPr>
          <p:cNvPr id="51" name="Shape 46"/>
          <p:cNvSpPr/>
          <p:nvPr/>
        </p:nvSpPr>
        <p:spPr>
          <a:xfrm>
            <a:off x="7516368" y="4672584"/>
            <a:ext cx="402336" cy="402336"/>
          </a:xfrm>
          <a:prstGeom prst="rect">
            <a:avLst/>
          </a:prstGeom>
          <a:solidFill>
            <a:srgbClr val="0F6E6A"/>
          </a:solidFill>
          <a:ln w="9525">
            <a:solidFill>
              <a:srgbClr val="CBD5E1"/>
            </a:solidFill>
            <a:prstDash val="solid"/>
          </a:ln>
        </p:spPr>
      </p:sp>
      <p:sp>
        <p:nvSpPr>
          <p:cNvPr id="52" name="Text 47"/>
          <p:cNvSpPr/>
          <p:nvPr/>
        </p:nvSpPr>
        <p:spPr>
          <a:xfrm>
            <a:off x="7516368" y="4672584"/>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−r</a:t>
            </a:r>
            <a:endParaRPr lang="en-US" sz="750" dirty="0"/>
          </a:p>
        </p:txBody>
      </p:sp>
      <p:sp>
        <p:nvSpPr>
          <p:cNvPr id="53" name="Shape 48"/>
          <p:cNvSpPr/>
          <p:nvPr/>
        </p:nvSpPr>
        <p:spPr>
          <a:xfrm>
            <a:off x="7918704" y="4672584"/>
            <a:ext cx="402336" cy="402336"/>
          </a:xfrm>
          <a:prstGeom prst="rect">
            <a:avLst/>
          </a:prstGeom>
          <a:solidFill>
            <a:srgbClr val="D46A00"/>
          </a:solidFill>
          <a:ln w="9525">
            <a:solidFill>
              <a:srgbClr val="CBD5E1"/>
            </a:solidFill>
            <a:prstDash val="solid"/>
          </a:ln>
        </p:spPr>
      </p:sp>
      <p:sp>
        <p:nvSpPr>
          <p:cNvPr id="54" name="Text 49"/>
          <p:cNvSpPr/>
          <p:nvPr/>
        </p:nvSpPr>
        <p:spPr>
          <a:xfrm>
            <a:off x="7918704" y="4672584"/>
            <a:ext cx="402336" cy="402336"/>
          </a:xfrm>
          <a:prstGeom prst="rect">
            <a:avLst/>
          </a:prstGeom>
          <a:noFill/>
          <a:ln/>
        </p:spPr>
        <p:txBody>
          <a:bodyPr wrap="square" lIns="0" tIns="0" rIns="0" bIns="0" rtlCol="0" anchor="ctr"/>
          <a:lstStyle/>
          <a:p>
            <a:pPr algn="ctr" indent="0" marL="0">
              <a:buNone/>
            </a:pPr>
            <a:r>
              <a:rPr lang="en-US" sz="750" dirty="0">
                <a:solidFill>
                  <a:srgbClr val="FFFFFF"/>
                </a:solidFill>
                <a:latin typeface="Courier New" pitchFamily="34" charset="0"/>
                <a:ea typeface="Courier New" pitchFamily="34" charset="-122"/>
                <a:cs typeface="Courier New" pitchFamily="34" charset="-120"/>
              </a:rPr>
              <a:t>1+2r</a:t>
            </a:r>
            <a:endParaRPr lang="en-US" sz="750" dirty="0"/>
          </a:p>
        </p:txBody>
      </p:sp>
      <p:sp>
        <p:nvSpPr>
          <p:cNvPr id="55" name="Text 50"/>
          <p:cNvSpPr/>
          <p:nvPr/>
        </p:nvSpPr>
        <p:spPr>
          <a:xfrm>
            <a:off x="6172200" y="5202936"/>
            <a:ext cx="530352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symmetric · tridiagonal · diagonally dominant · SPD</a:t>
            </a:r>
            <a:endParaRPr lang="en-US" sz="1100" dirty="0"/>
          </a:p>
        </p:txBody>
      </p:sp>
      <p:pic>
        <p:nvPicPr>
          <p:cNvPr id="56" name="Image 3" descr="/home/claude/proj/figs/eq/diag_dom.png">    </p:cNvPr>
          <p:cNvPicPr>
            <a:picLocks noChangeAspect="1"/>
          </p:cNvPicPr>
          <p:nvPr/>
        </p:nvPicPr>
        <p:blipFill>
          <a:blip r:embed="rId4"/>
          <a:stretch>
            <a:fillRect/>
          </a:stretch>
        </p:blipFill>
        <p:spPr>
          <a:xfrm>
            <a:off x="6309360" y="5532120"/>
            <a:ext cx="2286000" cy="3360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Q2 · EFFICIENCY</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One Factorization, Thousands of Cheap Solves</a:t>
            </a:r>
            <a:endParaRPr lang="en-US" sz="3000" dirty="0"/>
          </a:p>
        </p:txBody>
      </p:sp>
      <p:sp>
        <p:nvSpPr>
          <p:cNvPr id="6" name="Shape 4"/>
          <p:cNvSpPr/>
          <p:nvPr/>
        </p:nvSpPr>
        <p:spPr>
          <a:xfrm>
            <a:off x="457200" y="1572768"/>
            <a:ext cx="5394960" cy="4617720"/>
          </a:xfrm>
          <a:prstGeom prst="roundRect">
            <a:avLst>
              <a:gd name="adj" fmla="val 1584"/>
            </a:avLst>
          </a:prstGeom>
          <a:solidFill>
            <a:srgbClr val="F3F5F9"/>
          </a:solidFill>
          <a:ln/>
        </p:spPr>
      </p:sp>
      <p:sp>
        <p:nvSpPr>
          <p:cNvPr id="7" name="Text 5"/>
          <p:cNvSpPr/>
          <p:nvPr/>
        </p:nvSpPr>
        <p:spPr>
          <a:xfrm>
            <a:off x="685800" y="1755648"/>
            <a:ext cx="475488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ALGORITHM</a:t>
            </a:r>
            <a:endParaRPr lang="en-US" sz="1150" dirty="0"/>
          </a:p>
        </p:txBody>
      </p:sp>
      <p:sp>
        <p:nvSpPr>
          <p:cNvPr id="8" name="Shape 6"/>
          <p:cNvSpPr/>
          <p:nvPr/>
        </p:nvSpPr>
        <p:spPr>
          <a:xfrm>
            <a:off x="713232" y="2148840"/>
            <a:ext cx="310896" cy="310896"/>
          </a:xfrm>
          <a:prstGeom prst="ellipse">
            <a:avLst/>
          </a:prstGeom>
          <a:solidFill>
            <a:srgbClr val="1B2A4A"/>
          </a:solidFill>
          <a:ln/>
        </p:spPr>
      </p:sp>
      <p:sp>
        <p:nvSpPr>
          <p:cNvPr id="9" name="Text 7"/>
          <p:cNvSpPr/>
          <p:nvPr/>
        </p:nvSpPr>
        <p:spPr>
          <a:xfrm>
            <a:off x="713232" y="21488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170432" y="2121408"/>
            <a:ext cx="4526280" cy="56692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Assemble the (N−1)×(N−1) tridiagonal matrix A once.</a:t>
            </a:r>
            <a:endParaRPr lang="en-US" sz="1200" dirty="0"/>
          </a:p>
        </p:txBody>
      </p:sp>
      <p:sp>
        <p:nvSpPr>
          <p:cNvPr id="11" name="Shape 9"/>
          <p:cNvSpPr/>
          <p:nvPr/>
        </p:nvSpPr>
        <p:spPr>
          <a:xfrm>
            <a:off x="713232" y="2880360"/>
            <a:ext cx="310896" cy="310896"/>
          </a:xfrm>
          <a:prstGeom prst="ellipse">
            <a:avLst/>
          </a:prstGeom>
          <a:solidFill>
            <a:srgbClr val="1B2A4A"/>
          </a:solidFill>
          <a:ln/>
        </p:spPr>
      </p:sp>
      <p:sp>
        <p:nvSpPr>
          <p:cNvPr id="12" name="Text 10"/>
          <p:cNvSpPr/>
          <p:nvPr/>
        </p:nvSpPr>
        <p:spPr>
          <a:xfrm>
            <a:off x="713232" y="28803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70432" y="2852928"/>
            <a:ext cx="4526280" cy="56692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Factorize A = LU exactly once, before the time loop.</a:t>
            </a:r>
            <a:endParaRPr lang="en-US" sz="1200" dirty="0"/>
          </a:p>
        </p:txBody>
      </p:sp>
      <p:sp>
        <p:nvSpPr>
          <p:cNvPr id="14" name="Shape 12"/>
          <p:cNvSpPr/>
          <p:nvPr/>
        </p:nvSpPr>
        <p:spPr>
          <a:xfrm>
            <a:off x="713232" y="3611880"/>
            <a:ext cx="310896" cy="310896"/>
          </a:xfrm>
          <a:prstGeom prst="ellipse">
            <a:avLst/>
          </a:prstGeom>
          <a:solidFill>
            <a:srgbClr val="1B2A4A"/>
          </a:solidFill>
          <a:ln/>
        </p:spPr>
      </p:sp>
      <p:sp>
        <p:nvSpPr>
          <p:cNvPr id="15" name="Text 13"/>
          <p:cNvSpPr/>
          <p:nvPr/>
        </p:nvSpPr>
        <p:spPr>
          <a:xfrm>
            <a:off x="713232" y="36118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70432" y="3584448"/>
            <a:ext cx="4526280" cy="56692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First step: solve A U¹ = U⁰ + Δt V⁰ + ½Δt²F⁰ (ghost-point trick).</a:t>
            </a:r>
            <a:endParaRPr lang="en-US" sz="1200" dirty="0"/>
          </a:p>
        </p:txBody>
      </p:sp>
      <p:sp>
        <p:nvSpPr>
          <p:cNvPr id="17" name="Shape 15"/>
          <p:cNvSpPr/>
          <p:nvPr/>
        </p:nvSpPr>
        <p:spPr>
          <a:xfrm>
            <a:off x="713232" y="4343400"/>
            <a:ext cx="310896" cy="310896"/>
          </a:xfrm>
          <a:prstGeom prst="ellipse">
            <a:avLst/>
          </a:prstGeom>
          <a:solidFill>
            <a:srgbClr val="1B2A4A"/>
          </a:solidFill>
          <a:ln/>
        </p:spPr>
      </p:sp>
      <p:sp>
        <p:nvSpPr>
          <p:cNvPr id="18" name="Text 16"/>
          <p:cNvSpPr/>
          <p:nvPr/>
        </p:nvSpPr>
        <p:spPr>
          <a:xfrm>
            <a:off x="713232" y="43434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70432" y="4315968"/>
            <a:ext cx="4526280" cy="56692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Loop n = 1 … Nt: build RHS, forward/back-substitute with the stored LU factors.</a:t>
            </a:r>
            <a:endParaRPr lang="en-US" sz="1200" dirty="0"/>
          </a:p>
        </p:txBody>
      </p:sp>
      <p:sp>
        <p:nvSpPr>
          <p:cNvPr id="20" name="Shape 18"/>
          <p:cNvSpPr/>
          <p:nvPr/>
        </p:nvSpPr>
        <p:spPr>
          <a:xfrm>
            <a:off x="713232" y="5074920"/>
            <a:ext cx="310896" cy="310896"/>
          </a:xfrm>
          <a:prstGeom prst="ellipse">
            <a:avLst/>
          </a:prstGeom>
          <a:solidFill>
            <a:srgbClr val="1B2A4A"/>
          </a:solidFill>
          <a:ln/>
        </p:spPr>
      </p:sp>
      <p:sp>
        <p:nvSpPr>
          <p:cNvPr id="21" name="Text 19"/>
          <p:cNvSpPr/>
          <p:nvPr/>
        </p:nvSpPr>
        <p:spPr>
          <a:xfrm>
            <a:off x="713232" y="50749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1170432" y="5047488"/>
            <a:ext cx="4526280" cy="56692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Post-process: plots, error norms, energy, animation.</a:t>
            </a:r>
            <a:endParaRPr lang="en-US" sz="1200" dirty="0"/>
          </a:p>
        </p:txBody>
      </p:sp>
      <p:sp>
        <p:nvSpPr>
          <p:cNvPr id="23" name="Shape 21"/>
          <p:cNvSpPr/>
          <p:nvPr/>
        </p:nvSpPr>
        <p:spPr>
          <a:xfrm>
            <a:off x="6080760" y="1572768"/>
            <a:ext cx="5623560" cy="2148840"/>
          </a:xfrm>
          <a:prstGeom prst="roundRect">
            <a:avLst>
              <a:gd name="adj" fmla="val 3404"/>
            </a:avLst>
          </a:prstGeom>
          <a:solidFill>
            <a:srgbClr val="1B2A4A"/>
          </a:solidFill>
          <a:ln/>
        </p:spPr>
      </p:sp>
      <p:sp>
        <p:nvSpPr>
          <p:cNvPr id="24" name="Text 22"/>
          <p:cNvSpPr/>
          <p:nvPr/>
        </p:nvSpPr>
        <p:spPr>
          <a:xfrm>
            <a:off x="6309360" y="1755648"/>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COST PER TIME STEP</a:t>
            </a:r>
            <a:endParaRPr lang="en-US" sz="1150" dirty="0"/>
          </a:p>
        </p:txBody>
      </p:sp>
      <p:sp>
        <p:nvSpPr>
          <p:cNvPr id="25" name="Text 23"/>
          <p:cNvSpPr/>
          <p:nvPr/>
        </p:nvSpPr>
        <p:spPr>
          <a:xfrm>
            <a:off x="6309360" y="2084832"/>
            <a:ext cx="5120640" cy="274320"/>
          </a:xfrm>
          <a:prstGeom prst="rect">
            <a:avLst/>
          </a:prstGeom>
          <a:noFill/>
          <a:ln/>
        </p:spPr>
        <p:txBody>
          <a:bodyPr wrap="square" lIns="0" tIns="0" rIns="0" bIns="0" rtlCol="0" anchor="ctr"/>
          <a:lstStyle/>
          <a:p>
            <a:pPr indent="0" marL="0">
              <a:buNone/>
            </a:pPr>
            <a:r>
              <a:rPr lang="en-US" sz="1250" dirty="0">
                <a:solidFill>
                  <a:srgbClr val="C9D3E8"/>
                </a:solidFill>
                <a:latin typeface="Calibri" pitchFamily="34" charset="0"/>
                <a:ea typeface="Calibri" pitchFamily="34" charset="-122"/>
                <a:cs typeface="Calibri" pitchFamily="34" charset="-120"/>
              </a:rPr>
              <a:t>Dense matrix, no factorization reuse:   </a:t>
            </a:r>
            <a:endParaRPr lang="en-US" sz="1250" dirty="0"/>
          </a:p>
        </p:txBody>
      </p:sp>
      <p:pic>
        <p:nvPicPr>
          <p:cNvPr id="26" name="Image 0" descr="/home/claude/proj/figs/eq/cost_dense_w.png">    </p:cNvPr>
          <p:cNvPicPr>
            <a:picLocks noChangeAspect="1"/>
          </p:cNvPicPr>
          <p:nvPr/>
        </p:nvPicPr>
        <p:blipFill>
          <a:blip r:embed="rId1"/>
          <a:stretch>
            <a:fillRect/>
          </a:stretch>
        </p:blipFill>
        <p:spPr>
          <a:xfrm>
            <a:off x="6309360" y="2331720"/>
            <a:ext cx="1234440" cy="602530"/>
          </a:xfrm>
          <a:prstGeom prst="rect">
            <a:avLst/>
          </a:prstGeom>
        </p:spPr>
      </p:pic>
      <p:sp>
        <p:nvSpPr>
          <p:cNvPr id="27" name="Text 24"/>
          <p:cNvSpPr/>
          <p:nvPr/>
        </p:nvSpPr>
        <p:spPr>
          <a:xfrm>
            <a:off x="6309360" y="2880360"/>
            <a:ext cx="5120640" cy="274320"/>
          </a:xfrm>
          <a:prstGeom prst="rect">
            <a:avLst/>
          </a:prstGeom>
          <a:noFill/>
          <a:ln/>
        </p:spPr>
        <p:txBody>
          <a:bodyPr wrap="square" lIns="0" tIns="0" rIns="0" bIns="0" rtlCol="0" anchor="ctr"/>
          <a:lstStyle/>
          <a:p>
            <a:pPr indent="0" marL="0">
              <a:buNone/>
            </a:pPr>
            <a:r>
              <a:rPr lang="en-US" sz="1250" dirty="0">
                <a:solidFill>
                  <a:srgbClr val="C9D3E8"/>
                </a:solidFill>
                <a:latin typeface="Calibri" pitchFamily="34" charset="0"/>
                <a:ea typeface="Calibri" pitchFamily="34" charset="-122"/>
                <a:cs typeface="Calibri" pitchFamily="34" charset="-120"/>
              </a:rPr>
              <a:t>Tridiagonal A, LU factored once:</a:t>
            </a:r>
            <a:endParaRPr lang="en-US" sz="1250" dirty="0"/>
          </a:p>
        </p:txBody>
      </p:sp>
      <p:pic>
        <p:nvPicPr>
          <p:cNvPr id="28" name="Image 1" descr="/home/claude/proj/figs/eq/cost_tri_w.png">    </p:cNvPr>
          <p:cNvPicPr>
            <a:picLocks noChangeAspect="1"/>
          </p:cNvPicPr>
          <p:nvPr/>
        </p:nvPicPr>
        <p:blipFill>
          <a:blip r:embed="rId2"/>
          <a:stretch>
            <a:fillRect/>
          </a:stretch>
        </p:blipFill>
        <p:spPr>
          <a:xfrm>
            <a:off x="6309360" y="3127248"/>
            <a:ext cx="1005840" cy="551502"/>
          </a:xfrm>
          <a:prstGeom prst="rect">
            <a:avLst/>
          </a:prstGeom>
        </p:spPr>
      </p:pic>
      <p:sp>
        <p:nvSpPr>
          <p:cNvPr id="29" name="Text 25"/>
          <p:cNvSpPr/>
          <p:nvPr/>
        </p:nvSpPr>
        <p:spPr>
          <a:xfrm>
            <a:off x="7863840" y="3154680"/>
            <a:ext cx="3657600" cy="548640"/>
          </a:xfrm>
          <a:prstGeom prst="rect">
            <a:avLst/>
          </a:prstGeom>
          <a:noFill/>
          <a:ln/>
        </p:spPr>
        <p:txBody>
          <a:bodyPr wrap="square" lIns="0" tIns="0" rIns="0" bIns="0" rtlCol="0" anchor="ctr"/>
          <a:lstStyle/>
          <a:p>
            <a:pPr indent="0" marL="0">
              <a:buNone/>
            </a:pPr>
            <a:r>
              <a:rPr lang="en-US" sz="1150" i="1" dirty="0">
                <a:solidFill>
                  <a:srgbClr val="8FD9C4"/>
                </a:solidFill>
                <a:latin typeface="Calibri" pitchFamily="34" charset="0"/>
                <a:ea typeface="Calibri" pitchFamily="34" charset="-122"/>
                <a:cs typeface="Calibri" pitchFamily="34" charset="-120"/>
              </a:rPr>
              <a:t>For Nt steps: O(N) + Nt·O(N) = O(Nt N) total — optimal.</a:t>
            </a:r>
            <a:endParaRPr lang="en-US" sz="1150" dirty="0"/>
          </a:p>
        </p:txBody>
      </p:sp>
      <p:sp>
        <p:nvSpPr>
          <p:cNvPr id="30" name="Shape 26"/>
          <p:cNvSpPr/>
          <p:nvPr/>
        </p:nvSpPr>
        <p:spPr>
          <a:xfrm>
            <a:off x="6080760" y="3886200"/>
            <a:ext cx="5623560" cy="2304288"/>
          </a:xfrm>
          <a:prstGeom prst="roundRect">
            <a:avLst>
              <a:gd name="adj" fmla="val 3175"/>
            </a:avLst>
          </a:prstGeom>
          <a:solidFill>
            <a:srgbClr val="F3F5F9"/>
          </a:solidFill>
          <a:ln/>
        </p:spPr>
      </p:sp>
      <p:sp>
        <p:nvSpPr>
          <p:cNvPr id="31" name="Text 27"/>
          <p:cNvSpPr/>
          <p:nvPr/>
        </p:nvSpPr>
        <p:spPr>
          <a:xfrm>
            <a:off x="6309360" y="4069080"/>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EIGENVALUES OF A (STABILITY &amp; CONDITIONING)</a:t>
            </a:r>
            <a:endParaRPr lang="en-US" sz="1150" dirty="0"/>
          </a:p>
        </p:txBody>
      </p:sp>
      <p:pic>
        <p:nvPicPr>
          <p:cNvPr id="32" name="Image 2" descr="/home/claude/proj/figs/eq/eigvals.png">    </p:cNvPr>
          <p:cNvPicPr>
            <a:picLocks noChangeAspect="1"/>
          </p:cNvPicPr>
          <p:nvPr/>
        </p:nvPicPr>
        <p:blipFill>
          <a:blip r:embed="rId3"/>
          <a:stretch>
            <a:fillRect/>
          </a:stretch>
        </p:blipFill>
        <p:spPr>
          <a:xfrm>
            <a:off x="6309360" y="4434840"/>
            <a:ext cx="3017520" cy="635791"/>
          </a:xfrm>
          <a:prstGeom prst="rect">
            <a:avLst/>
          </a:prstGeom>
        </p:spPr>
      </p:pic>
      <p:sp>
        <p:nvSpPr>
          <p:cNvPr id="33" name="Text 28"/>
          <p:cNvSpPr/>
          <p:nvPr/>
        </p:nvSpPr>
        <p:spPr>
          <a:xfrm>
            <a:off x="6309360" y="5074920"/>
            <a:ext cx="5120640" cy="10058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All λk &gt; 0 ⇒ A is symmetric positive definite ⇒ LU needs no pivoting and is numerically safe; condition number κ₂(A) = O(N²), negligible next to the O(Δx²) PDE error.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9692640" y="2926080"/>
            <a:ext cx="5120640" cy="5120640"/>
          </a:xfrm>
          <a:prstGeom prst="ellipse">
            <a:avLst/>
          </a:prstGeom>
          <a:solidFill>
            <a:srgbClr val="1D2C4C"/>
          </a:solidFill>
          <a:ln/>
        </p:spPr>
      </p:sp>
      <p:sp>
        <p:nvSpPr>
          <p:cNvPr id="3" name="Text 1"/>
          <p:cNvSpPr/>
          <p:nvPr/>
        </p:nvSpPr>
        <p:spPr>
          <a:xfrm>
            <a:off x="914400" y="2331720"/>
            <a:ext cx="7315200" cy="411480"/>
          </a:xfrm>
          <a:prstGeom prst="rect">
            <a:avLst/>
          </a:prstGeom>
          <a:noFill/>
          <a:ln/>
        </p:spPr>
        <p:txBody>
          <a:bodyPr wrap="square" lIns="0" tIns="0" rIns="0" bIns="0" rtlCol="0" anchor="ctr"/>
          <a:lstStyle/>
          <a:p>
            <a:pPr indent="0" marL="0">
              <a:buNone/>
            </a:pPr>
            <a:r>
              <a:rPr lang="en-US" sz="1400" b="1" spc="300" kern="0" dirty="0">
                <a:solidFill>
                  <a:srgbClr val="D46A00"/>
                </a:solidFill>
                <a:latin typeface="Calibri" pitchFamily="34" charset="0"/>
                <a:ea typeface="Calibri" pitchFamily="34" charset="-122"/>
                <a:cs typeface="Calibri" pitchFamily="34" charset="-120"/>
              </a:rPr>
              <a:t>QUESTION 3</a:t>
            </a:r>
            <a:endParaRPr lang="en-US" sz="1400" dirty="0"/>
          </a:p>
        </p:txBody>
      </p:sp>
      <p:sp>
        <p:nvSpPr>
          <p:cNvPr id="4" name="Text 2"/>
          <p:cNvSpPr/>
          <p:nvPr/>
        </p:nvSpPr>
        <p:spPr>
          <a:xfrm>
            <a:off x="914400" y="2724912"/>
            <a:ext cx="987552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Simulation, Validation &amp; Convergence</a:t>
            </a:r>
            <a:endParaRPr lang="en-US" sz="3800" dirty="0"/>
          </a:p>
        </p:txBody>
      </p:sp>
      <p:sp>
        <p:nvSpPr>
          <p:cNvPr id="5" name="Text 3"/>
          <p:cNvSpPr/>
          <p:nvPr/>
        </p:nvSpPr>
        <p:spPr>
          <a:xfrm>
            <a:off x="914400" y="3703320"/>
            <a:ext cx="8778240" cy="640080"/>
          </a:xfrm>
          <a:prstGeom prst="rect">
            <a:avLst/>
          </a:prstGeom>
          <a:noFill/>
          <a:ln/>
        </p:spPr>
        <p:txBody>
          <a:bodyPr wrap="square" lIns="0" tIns="0" rIns="0" bIns="0" rtlCol="0" anchor="ctr"/>
          <a:lstStyle/>
          <a:p>
            <a:pPr indent="0" marL="0">
              <a:buNone/>
            </a:pPr>
            <a:r>
              <a:rPr lang="en-US" sz="1500" i="1" dirty="0">
                <a:solidFill>
                  <a:srgbClr val="AAB8D6"/>
                </a:solidFill>
                <a:latin typeface="Calibri" pitchFamily="34" charset="0"/>
                <a:ea typeface="Calibri" pitchFamily="34" charset="-122"/>
                <a:cs typeface="Calibri" pitchFamily="34" charset="-120"/>
              </a:rPr>
              <a:t>Implementing the LU-based solver and checking it against an exact solution.</a:t>
            </a:r>
            <a:endParaRPr lang="en-US" sz="1500" dirty="0"/>
          </a:p>
        </p:txBody>
      </p:sp>
      <p:sp>
        <p:nvSpPr>
          <p:cNvPr id="6" name="Text 4"/>
          <p:cNvSpPr/>
          <p:nvPr/>
        </p:nvSpPr>
        <p:spPr>
          <a:xfrm>
            <a:off x="914400" y="5989320"/>
            <a:ext cx="2743200" cy="365760"/>
          </a:xfrm>
          <a:prstGeom prst="rect">
            <a:avLst/>
          </a:prstGeom>
          <a:noFill/>
          <a:ln/>
        </p:spPr>
        <p:txBody>
          <a:bodyPr wrap="square" lIns="0" tIns="0" rIns="0" bIns="0" rtlCol="0" anchor="ctr"/>
          <a:lstStyle/>
          <a:p>
            <a:pPr indent="0" marL="0">
              <a:buNone/>
            </a:pPr>
            <a:r>
              <a:rPr lang="en-US" sz="1300" dirty="0">
                <a:solidFill>
                  <a:srgbClr val="56659A"/>
                </a:solidFill>
                <a:latin typeface="Courier New" pitchFamily="34" charset="0"/>
                <a:ea typeface="Courier New" pitchFamily="34" charset="-122"/>
                <a:cs typeface="Courier New" pitchFamily="34" charset="-120"/>
              </a:rPr>
              <a:t>03 / 05</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Q3 · TEST PROBLEM</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A Test Problem With a Known Exact Solution</a:t>
            </a:r>
            <a:endParaRPr lang="en-US" sz="3000" dirty="0"/>
          </a:p>
        </p:txBody>
      </p:sp>
      <p:sp>
        <p:nvSpPr>
          <p:cNvPr id="6" name="Shape 4"/>
          <p:cNvSpPr/>
          <p:nvPr/>
        </p:nvSpPr>
        <p:spPr>
          <a:xfrm>
            <a:off x="457200" y="1572768"/>
            <a:ext cx="5623560" cy="4617720"/>
          </a:xfrm>
          <a:prstGeom prst="roundRect">
            <a:avLst>
              <a:gd name="adj" fmla="val 1584"/>
            </a:avLst>
          </a:prstGeom>
          <a:solidFill>
            <a:srgbClr val="F3F5F9"/>
          </a:solidFill>
          <a:ln/>
        </p:spPr>
      </p:sp>
      <p:sp>
        <p:nvSpPr>
          <p:cNvPr id="7" name="Text 5"/>
          <p:cNvSpPr/>
          <p:nvPr/>
        </p:nvSpPr>
        <p:spPr>
          <a:xfrm>
            <a:off x="685800" y="1755648"/>
            <a:ext cx="502920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MANUFACTURED TEST CASE</a:t>
            </a:r>
            <a:endParaRPr lang="en-US" sz="1150" dirty="0"/>
          </a:p>
        </p:txBody>
      </p:sp>
      <p:pic>
        <p:nvPicPr>
          <p:cNvPr id="8" name="Image 0" descr="/home/claude/proj/figs/eq/test_pde.png">    </p:cNvPr>
          <p:cNvPicPr>
            <a:picLocks noChangeAspect="1"/>
          </p:cNvPicPr>
          <p:nvPr/>
        </p:nvPicPr>
        <p:blipFill>
          <a:blip r:embed="rId1"/>
          <a:stretch>
            <a:fillRect/>
          </a:stretch>
        </p:blipFill>
        <p:spPr>
          <a:xfrm>
            <a:off x="777240" y="2084832"/>
            <a:ext cx="4846320" cy="554904"/>
          </a:xfrm>
          <a:prstGeom prst="rect">
            <a:avLst/>
          </a:prstGeom>
        </p:spPr>
      </p:pic>
      <p:sp>
        <p:nvSpPr>
          <p:cNvPr id="9" name="Text 6"/>
          <p:cNvSpPr/>
          <p:nvPr/>
        </p:nvSpPr>
        <p:spPr>
          <a:xfrm>
            <a:off x="777240" y="2651760"/>
            <a:ext cx="5120640" cy="502920"/>
          </a:xfrm>
          <a:prstGeom prst="rect">
            <a:avLst/>
          </a:prstGeom>
          <a:noFill/>
          <a:ln/>
        </p:spPr>
        <p:txBody>
          <a:bodyPr wrap="square" lIns="0" tIns="0" rIns="0" bIns="0" rtlCol="0" anchor="ctr"/>
          <a:lstStyle/>
          <a:p>
            <a:pPr indent="0" marL="0">
              <a:buNone/>
            </a:pPr>
            <a:r>
              <a:rPr lang="en-US" sz="1050" dirty="0">
                <a:solidFill>
                  <a:srgbClr val="64748B"/>
                </a:solidFill>
                <a:latin typeface="Courier New" pitchFamily="34" charset="0"/>
                <a:ea typeface="Courier New" pitchFamily="34" charset="-122"/>
                <a:cs typeface="Courier New" pitchFamily="34" charset="-120"/>
              </a:rPr>
              <a:t>0 &lt; x &lt; 1,  0 &lt; t ≤ 2,   u(0,t) = u(1,t) = 0,   u(x,0) = sin(πx),  ut(x,0) = 0</a:t>
            </a:r>
            <a:endParaRPr lang="en-US" sz="1050" dirty="0"/>
          </a:p>
        </p:txBody>
      </p:sp>
      <p:sp>
        <p:nvSpPr>
          <p:cNvPr id="10" name="Text 7"/>
          <p:cNvSpPr/>
          <p:nvPr/>
        </p:nvSpPr>
        <p:spPr>
          <a:xfrm>
            <a:off x="685800" y="3337560"/>
            <a:ext cx="502920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EXACT SOLUTION</a:t>
            </a:r>
            <a:endParaRPr lang="en-US" sz="1150" dirty="0"/>
          </a:p>
        </p:txBody>
      </p:sp>
      <p:pic>
        <p:nvPicPr>
          <p:cNvPr id="11" name="Image 1" descr="/home/claude/proj/figs/eq/exact_sol.png">    </p:cNvPr>
          <p:cNvPicPr>
            <a:picLocks noChangeAspect="1"/>
          </p:cNvPicPr>
          <p:nvPr/>
        </p:nvPicPr>
        <p:blipFill>
          <a:blip r:embed="rId2"/>
          <a:stretch>
            <a:fillRect/>
          </a:stretch>
        </p:blipFill>
        <p:spPr>
          <a:xfrm>
            <a:off x="777240" y="3657600"/>
            <a:ext cx="3657600" cy="465247"/>
          </a:xfrm>
          <a:prstGeom prst="rect">
            <a:avLst/>
          </a:prstGeom>
        </p:spPr>
      </p:pic>
      <p:sp>
        <p:nvSpPr>
          <p:cNvPr id="12" name="Text 8"/>
          <p:cNvSpPr/>
          <p:nvPr/>
        </p:nvSpPr>
        <p:spPr>
          <a:xfrm>
            <a:off x="685800" y="4343400"/>
            <a:ext cx="5120640" cy="155448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The forcing term f(x,t) was manufactured specifically so that this simple closed form solves the PDE exactly — giving us a ground truth to validate against.</a:t>
            </a:r>
            <a:endParaRPr lang="en-US" sz="1250" dirty="0"/>
          </a:p>
        </p:txBody>
      </p:sp>
      <p:sp>
        <p:nvSpPr>
          <p:cNvPr id="13" name="Shape 9"/>
          <p:cNvSpPr/>
          <p:nvPr/>
        </p:nvSpPr>
        <p:spPr>
          <a:xfrm>
            <a:off x="6309360" y="1572768"/>
            <a:ext cx="5422392" cy="4617720"/>
          </a:xfrm>
          <a:prstGeom prst="roundRect">
            <a:avLst>
              <a:gd name="adj" fmla="val 1584"/>
            </a:avLst>
          </a:prstGeom>
          <a:solidFill>
            <a:srgbClr val="1B2A4A"/>
          </a:solidFill>
          <a:ln/>
        </p:spPr>
      </p:sp>
      <p:sp>
        <p:nvSpPr>
          <p:cNvPr id="14" name="Text 10"/>
          <p:cNvSpPr/>
          <p:nvPr/>
        </p:nvSpPr>
        <p:spPr>
          <a:xfrm>
            <a:off x="6537960" y="1755648"/>
            <a:ext cx="493776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SIMULATION PARAMETERS</a:t>
            </a:r>
            <a:endParaRPr lang="en-US" sz="1150" dirty="0"/>
          </a:p>
        </p:txBody>
      </p:sp>
      <p:sp>
        <p:nvSpPr>
          <p:cNvPr id="15" name="Text 11"/>
          <p:cNvSpPr/>
          <p:nvPr/>
        </p:nvSpPr>
        <p:spPr>
          <a:xfrm>
            <a:off x="6537960" y="2194560"/>
            <a:ext cx="1280160" cy="365760"/>
          </a:xfrm>
          <a:prstGeom prst="rect">
            <a:avLst/>
          </a:prstGeom>
          <a:noFill/>
          <a:ln/>
        </p:spPr>
        <p:txBody>
          <a:bodyPr wrap="square" lIns="0" tIns="0" rIns="0" bIns="0" rtlCol="0" anchor="ctr"/>
          <a:lstStyle/>
          <a:p>
            <a:pPr indent="0" marL="0">
              <a:buNone/>
            </a:pPr>
            <a:r>
              <a:rPr lang="en-US" sz="1400" b="1" dirty="0">
                <a:solidFill>
                  <a:srgbClr val="D46A00"/>
                </a:solidFill>
                <a:latin typeface="Courier New" pitchFamily="34" charset="0"/>
                <a:ea typeface="Courier New" pitchFamily="34" charset="-122"/>
                <a:cs typeface="Courier New" pitchFamily="34" charset="-120"/>
              </a:rPr>
              <a:t>c</a:t>
            </a:r>
            <a:endParaRPr lang="en-US" sz="1400" dirty="0"/>
          </a:p>
        </p:txBody>
      </p:sp>
      <p:sp>
        <p:nvSpPr>
          <p:cNvPr id="16" name="Text 12"/>
          <p:cNvSpPr/>
          <p:nvPr/>
        </p:nvSpPr>
        <p:spPr>
          <a:xfrm>
            <a:off x="7772400" y="2194560"/>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1.0</a:t>
            </a:r>
            <a:endParaRPr lang="en-US" sz="1400" dirty="0"/>
          </a:p>
        </p:txBody>
      </p:sp>
      <p:sp>
        <p:nvSpPr>
          <p:cNvPr id="17" name="Text 13"/>
          <p:cNvSpPr/>
          <p:nvPr/>
        </p:nvSpPr>
        <p:spPr>
          <a:xfrm>
            <a:off x="6537960" y="2615184"/>
            <a:ext cx="1280160" cy="365760"/>
          </a:xfrm>
          <a:prstGeom prst="rect">
            <a:avLst/>
          </a:prstGeom>
          <a:noFill/>
          <a:ln/>
        </p:spPr>
        <p:txBody>
          <a:bodyPr wrap="square" lIns="0" tIns="0" rIns="0" bIns="0" rtlCol="0" anchor="ctr"/>
          <a:lstStyle/>
          <a:p>
            <a:pPr indent="0" marL="0">
              <a:buNone/>
            </a:pPr>
            <a:r>
              <a:rPr lang="en-US" sz="1400" b="1" dirty="0">
                <a:solidFill>
                  <a:srgbClr val="D46A00"/>
                </a:solidFill>
                <a:latin typeface="Courier New" pitchFamily="34" charset="0"/>
                <a:ea typeface="Courier New" pitchFamily="34" charset="-122"/>
                <a:cs typeface="Courier New" pitchFamily="34" charset="-120"/>
              </a:rPr>
              <a:t>L</a:t>
            </a:r>
            <a:endParaRPr lang="en-US" sz="1400" dirty="0"/>
          </a:p>
        </p:txBody>
      </p:sp>
      <p:sp>
        <p:nvSpPr>
          <p:cNvPr id="18" name="Text 14"/>
          <p:cNvSpPr/>
          <p:nvPr/>
        </p:nvSpPr>
        <p:spPr>
          <a:xfrm>
            <a:off x="7772400" y="2615184"/>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1.0</a:t>
            </a:r>
            <a:endParaRPr lang="en-US" sz="1400" dirty="0"/>
          </a:p>
        </p:txBody>
      </p:sp>
      <p:sp>
        <p:nvSpPr>
          <p:cNvPr id="19" name="Text 15"/>
          <p:cNvSpPr/>
          <p:nvPr/>
        </p:nvSpPr>
        <p:spPr>
          <a:xfrm>
            <a:off x="6537960" y="3035808"/>
            <a:ext cx="1280160" cy="365760"/>
          </a:xfrm>
          <a:prstGeom prst="rect">
            <a:avLst/>
          </a:prstGeom>
          <a:noFill/>
          <a:ln/>
        </p:spPr>
        <p:txBody>
          <a:bodyPr wrap="square" lIns="0" tIns="0" rIns="0" bIns="0" rtlCol="0" anchor="ctr"/>
          <a:lstStyle/>
          <a:p>
            <a:pPr indent="0" marL="0">
              <a:buNone/>
            </a:pPr>
            <a:r>
              <a:rPr lang="en-US" sz="1400" b="1" dirty="0">
                <a:solidFill>
                  <a:srgbClr val="D46A00"/>
                </a:solidFill>
                <a:latin typeface="Courier New" pitchFamily="34" charset="0"/>
                <a:ea typeface="Courier New" pitchFamily="34" charset="-122"/>
                <a:cs typeface="Courier New" pitchFamily="34" charset="-120"/>
              </a:rPr>
              <a:t>T_max</a:t>
            </a:r>
            <a:endParaRPr lang="en-US" sz="1400" dirty="0"/>
          </a:p>
        </p:txBody>
      </p:sp>
      <p:sp>
        <p:nvSpPr>
          <p:cNvPr id="20" name="Text 16"/>
          <p:cNvSpPr/>
          <p:nvPr/>
        </p:nvSpPr>
        <p:spPr>
          <a:xfrm>
            <a:off x="7772400" y="3035808"/>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2.0</a:t>
            </a:r>
            <a:endParaRPr lang="en-US" sz="1400" dirty="0"/>
          </a:p>
        </p:txBody>
      </p:sp>
      <p:sp>
        <p:nvSpPr>
          <p:cNvPr id="21" name="Text 17"/>
          <p:cNvSpPr/>
          <p:nvPr/>
        </p:nvSpPr>
        <p:spPr>
          <a:xfrm>
            <a:off x="6537960" y="3456432"/>
            <a:ext cx="1280160" cy="365760"/>
          </a:xfrm>
          <a:prstGeom prst="rect">
            <a:avLst/>
          </a:prstGeom>
          <a:noFill/>
          <a:ln/>
        </p:spPr>
        <p:txBody>
          <a:bodyPr wrap="square" lIns="0" tIns="0" rIns="0" bIns="0" rtlCol="0" anchor="ctr"/>
          <a:lstStyle/>
          <a:p>
            <a:pPr indent="0" marL="0">
              <a:buNone/>
            </a:pPr>
            <a:r>
              <a:rPr lang="en-US" sz="1400" b="1" dirty="0">
                <a:solidFill>
                  <a:srgbClr val="D46A00"/>
                </a:solidFill>
                <a:latin typeface="Courier New" pitchFamily="34" charset="0"/>
                <a:ea typeface="Courier New" pitchFamily="34" charset="-122"/>
                <a:cs typeface="Courier New" pitchFamily="34" charset="-120"/>
              </a:rPr>
              <a:t>N</a:t>
            </a:r>
            <a:endParaRPr lang="en-US" sz="1400" dirty="0"/>
          </a:p>
        </p:txBody>
      </p:sp>
      <p:sp>
        <p:nvSpPr>
          <p:cNvPr id="22" name="Text 18"/>
          <p:cNvSpPr/>
          <p:nvPr/>
        </p:nvSpPr>
        <p:spPr>
          <a:xfrm>
            <a:off x="7772400" y="3456432"/>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100  (Δx = 0.01)</a:t>
            </a:r>
            <a:endParaRPr lang="en-US" sz="1400" dirty="0"/>
          </a:p>
        </p:txBody>
      </p:sp>
      <p:sp>
        <p:nvSpPr>
          <p:cNvPr id="23" name="Text 19"/>
          <p:cNvSpPr/>
          <p:nvPr/>
        </p:nvSpPr>
        <p:spPr>
          <a:xfrm>
            <a:off x="6537960" y="3877056"/>
            <a:ext cx="1280160" cy="365760"/>
          </a:xfrm>
          <a:prstGeom prst="rect">
            <a:avLst/>
          </a:prstGeom>
          <a:noFill/>
          <a:ln/>
        </p:spPr>
        <p:txBody>
          <a:bodyPr wrap="square" lIns="0" tIns="0" rIns="0" bIns="0" rtlCol="0" anchor="ctr"/>
          <a:lstStyle/>
          <a:p>
            <a:pPr indent="0" marL="0">
              <a:buNone/>
            </a:pPr>
            <a:r>
              <a:rPr lang="en-US" sz="1400" b="1" dirty="0">
                <a:solidFill>
                  <a:srgbClr val="D46A00"/>
                </a:solidFill>
                <a:latin typeface="Courier New" pitchFamily="34" charset="0"/>
                <a:ea typeface="Courier New" pitchFamily="34" charset="-122"/>
                <a:cs typeface="Courier New" pitchFamily="34" charset="-120"/>
              </a:rPr>
              <a:t>Δt</a:t>
            </a:r>
            <a:endParaRPr lang="en-US" sz="1400" dirty="0"/>
          </a:p>
        </p:txBody>
      </p:sp>
      <p:sp>
        <p:nvSpPr>
          <p:cNvPr id="24" name="Text 20"/>
          <p:cNvSpPr/>
          <p:nvPr/>
        </p:nvSpPr>
        <p:spPr>
          <a:xfrm>
            <a:off x="7772400" y="3877056"/>
            <a:ext cx="3657600" cy="36576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0.01</a:t>
            </a:r>
            <a:endParaRPr lang="en-US" sz="1400" dirty="0"/>
          </a:p>
        </p:txBody>
      </p:sp>
      <p:sp>
        <p:nvSpPr>
          <p:cNvPr id="25" name="Shape 21"/>
          <p:cNvSpPr/>
          <p:nvPr/>
        </p:nvSpPr>
        <p:spPr>
          <a:xfrm>
            <a:off x="6537960" y="4617720"/>
            <a:ext cx="4937760" cy="1371600"/>
          </a:xfrm>
          <a:prstGeom prst="roundRect">
            <a:avLst>
              <a:gd name="adj" fmla="val 5333"/>
            </a:avLst>
          </a:prstGeom>
          <a:solidFill>
            <a:srgbClr val="24345A"/>
          </a:solidFill>
          <a:ln/>
        </p:spPr>
      </p:sp>
      <p:sp>
        <p:nvSpPr>
          <p:cNvPr id="26" name="Text 22"/>
          <p:cNvSpPr/>
          <p:nvPr/>
        </p:nvSpPr>
        <p:spPr>
          <a:xfrm>
            <a:off x="6766560" y="4800600"/>
            <a:ext cx="4480560" cy="1005840"/>
          </a:xfrm>
          <a:prstGeom prst="rect">
            <a:avLst/>
          </a:prstGeom>
          <a:noFill/>
          <a:ln/>
        </p:spPr>
        <p:txBody>
          <a:bodyPr wrap="square" lIns="0" tIns="0" rIns="0" bIns="0" rtlCol="0" anchor="t"/>
          <a:lstStyle/>
          <a:p>
            <a:pPr indent="0" marL="0">
              <a:buNone/>
            </a:pPr>
            <a:r>
              <a:rPr lang="en-US" sz="1300" b="1" dirty="0">
                <a:solidFill>
                  <a:srgbClr val="8FD9C4"/>
                </a:solidFill>
                <a:latin typeface="Calibri" pitchFamily="34" charset="0"/>
                <a:ea typeface="Calibri" pitchFamily="34" charset="-122"/>
                <a:cs typeface="Calibri" pitchFamily="34" charset="-120"/>
              </a:rPr>
              <a:t>Verification at final time:  </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E∞ = 1.19×10⁻⁴     E₂ = 8.44×10⁻⁵</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Q3 · SIMULATION</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Numerical Displacement Through Time</a:t>
            </a:r>
            <a:endParaRPr lang="en-US" sz="3000" dirty="0"/>
          </a:p>
        </p:txBody>
      </p:sp>
      <p:pic>
        <p:nvPicPr>
          <p:cNvPr id="6" name="Image 0" descr="/home/claude/proj/figs/fig_displacements.png">    </p:cNvPr>
          <p:cNvPicPr>
            <a:picLocks noChangeAspect="1"/>
          </p:cNvPicPr>
          <p:nvPr/>
        </p:nvPicPr>
        <p:blipFill>
          <a:blip r:embed="rId1"/>
          <a:stretch>
            <a:fillRect/>
          </a:stretch>
        </p:blipFill>
        <p:spPr>
          <a:xfrm>
            <a:off x="2542032" y="1417320"/>
            <a:ext cx="7104888" cy="4295653"/>
          </a:xfrm>
          <a:prstGeom prst="rect">
            <a:avLst/>
          </a:prstGeom>
        </p:spPr>
      </p:pic>
      <p:sp>
        <p:nvSpPr>
          <p:cNvPr id="7" name="Text 4"/>
          <p:cNvSpPr/>
          <p:nvPr/>
        </p:nvSpPr>
        <p:spPr>
          <a:xfrm>
            <a:off x="1417320" y="5806440"/>
            <a:ext cx="9326880" cy="54864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The string starts as a positive sine arch, inverts to a downward arch by t = 1.0 (since cos(2π) flips sign at t = 0.5), and returns exactly to its start at t = 2.0 — a full period.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Q3 · VALIDATION</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Numerical vs. Exact — Point by Point</a:t>
            </a:r>
            <a:endParaRPr lang="en-US" sz="3000" dirty="0"/>
          </a:p>
        </p:txBody>
      </p:sp>
      <p:pic>
        <p:nvPicPr>
          <p:cNvPr id="6" name="Image 0" descr="/home/claude/proj/figs/fig_comparison.png">    </p:cNvPr>
          <p:cNvPicPr>
            <a:picLocks noChangeAspect="1"/>
          </p:cNvPicPr>
          <p:nvPr/>
        </p:nvPicPr>
        <p:blipFill>
          <a:blip r:embed="rId1"/>
          <a:stretch>
            <a:fillRect/>
          </a:stretch>
        </p:blipFill>
        <p:spPr>
          <a:xfrm>
            <a:off x="2258568" y="1234440"/>
            <a:ext cx="7680960" cy="4320540"/>
          </a:xfrm>
          <a:prstGeom prst="rect">
            <a:avLst/>
          </a:prstGeom>
        </p:spPr>
      </p:pic>
      <p:sp>
        <p:nvSpPr>
          <p:cNvPr id="7" name="Text 4"/>
          <p:cNvSpPr/>
          <p:nvPr/>
        </p:nvSpPr>
        <p:spPr>
          <a:xfrm>
            <a:off x="2258568" y="5623560"/>
            <a:ext cx="7680960" cy="50292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The orange numerical curve and the dashed exact curve are visually indistinguishable at every instant — direct confirmation that the implicit LU solver reproduces the exact solution.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Q3 · ANIMATION</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Animating the Vibrating String</a:t>
            </a:r>
            <a:endParaRPr lang="en-US" sz="3000" dirty="0"/>
          </a:p>
        </p:txBody>
      </p:sp>
      <p:sp>
        <p:nvSpPr>
          <p:cNvPr id="6" name="Shape 4"/>
          <p:cNvSpPr/>
          <p:nvPr/>
        </p:nvSpPr>
        <p:spPr>
          <a:xfrm>
            <a:off x="457200" y="1572768"/>
            <a:ext cx="6903720" cy="4617720"/>
          </a:xfrm>
          <a:prstGeom prst="roundRect">
            <a:avLst>
              <a:gd name="adj" fmla="val 1584"/>
            </a:avLst>
          </a:prstGeom>
          <a:solidFill>
            <a:srgbClr val="1B2A4A"/>
          </a:solidFill>
          <a:ln/>
        </p:spPr>
      </p:sp>
      <p:sp>
        <p:nvSpPr>
          <p:cNvPr id="7" name="Text 5"/>
          <p:cNvSpPr/>
          <p:nvPr/>
        </p:nvSpPr>
        <p:spPr>
          <a:xfrm>
            <a:off x="685800" y="1755648"/>
            <a:ext cx="630936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LIVE ANIMATION (GIF, PLAYS IN POWERPOINT)</a:t>
            </a:r>
            <a:endParaRPr lang="en-US" sz="1150" dirty="0"/>
          </a:p>
        </p:txBody>
      </p:sp>
      <p:pic>
        <p:nvPicPr>
          <p:cNvPr id="8" name="Image 0" descr="/home/claude/proj/figs/string_animation.gif">    </p:cNvPr>
          <p:cNvPicPr>
            <a:picLocks noChangeAspect="1"/>
          </p:cNvPicPr>
          <p:nvPr/>
        </p:nvPicPr>
        <p:blipFill>
          <a:blip r:embed="rId1"/>
          <a:stretch>
            <a:fillRect/>
          </a:stretch>
        </p:blipFill>
        <p:spPr>
          <a:xfrm>
            <a:off x="777240" y="2121408"/>
            <a:ext cx="6035040" cy="3176337"/>
          </a:xfrm>
          <a:prstGeom prst="rect">
            <a:avLst/>
          </a:prstGeom>
        </p:spPr>
      </p:pic>
      <p:sp>
        <p:nvSpPr>
          <p:cNvPr id="9" name="Text 6"/>
          <p:cNvSpPr/>
          <p:nvPr/>
        </p:nvSpPr>
        <p:spPr>
          <a:xfrm>
            <a:off x="777240" y="5440680"/>
            <a:ext cx="6309360" cy="594360"/>
          </a:xfrm>
          <a:prstGeom prst="rect">
            <a:avLst/>
          </a:prstGeom>
          <a:noFill/>
          <a:ln/>
        </p:spPr>
        <p:txBody>
          <a:bodyPr wrap="square" lIns="0" tIns="0" rIns="0" bIns="0" rtlCol="0" anchor="ctr"/>
          <a:lstStyle/>
          <a:p>
            <a:pPr indent="0" marL="0">
              <a:buNone/>
            </a:pPr>
            <a:r>
              <a:rPr lang="en-US" sz="1200" i="1" dirty="0">
                <a:solidFill>
                  <a:srgbClr val="AEB9D6"/>
                </a:solidFill>
                <a:latin typeface="Calibri" pitchFamily="34" charset="0"/>
                <a:ea typeface="Calibri" pitchFamily="34" charset="-122"/>
                <a:cs typeface="Calibri" pitchFamily="34" charset="-120"/>
              </a:rPr>
              <a:t>Click Slide Show to play — the numerical curve (orange) tracks the exact solution (dashed) frame by frame from t = 0 to t = 2.</a:t>
            </a:r>
            <a:endParaRPr lang="en-US" sz="1200" dirty="0"/>
          </a:p>
        </p:txBody>
      </p:sp>
      <p:pic>
        <p:nvPicPr>
          <p:cNvPr id="10" name="Image 1" descr="/home/claude/proj/figs/frame_0.png">    </p:cNvPr>
          <p:cNvPicPr>
            <a:picLocks noChangeAspect="1"/>
          </p:cNvPicPr>
          <p:nvPr/>
        </p:nvPicPr>
        <p:blipFill>
          <a:blip r:embed="rId2"/>
          <a:stretch>
            <a:fillRect/>
          </a:stretch>
        </p:blipFill>
        <p:spPr>
          <a:xfrm>
            <a:off x="7772400" y="1572768"/>
            <a:ext cx="1371600" cy="721895"/>
          </a:xfrm>
          <a:prstGeom prst="rect">
            <a:avLst/>
          </a:prstGeom>
        </p:spPr>
      </p:pic>
      <p:sp>
        <p:nvSpPr>
          <p:cNvPr id="11" name="Text 7"/>
          <p:cNvSpPr/>
          <p:nvPr/>
        </p:nvSpPr>
        <p:spPr>
          <a:xfrm>
            <a:off x="7772400" y="2312951"/>
            <a:ext cx="1371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t = 0.00</a:t>
            </a:r>
            <a:endParaRPr lang="en-US" sz="900" dirty="0"/>
          </a:p>
        </p:txBody>
      </p:sp>
      <p:pic>
        <p:nvPicPr>
          <p:cNvPr id="12" name="Image 2" descr="/home/claude/proj/figs/frame_12.png">    </p:cNvPr>
          <p:cNvPicPr>
            <a:picLocks noChangeAspect="1"/>
          </p:cNvPicPr>
          <p:nvPr/>
        </p:nvPicPr>
        <p:blipFill>
          <a:blip r:embed="rId3"/>
          <a:stretch>
            <a:fillRect/>
          </a:stretch>
        </p:blipFill>
        <p:spPr>
          <a:xfrm>
            <a:off x="7772400" y="2532407"/>
            <a:ext cx="1371600" cy="721895"/>
          </a:xfrm>
          <a:prstGeom prst="rect">
            <a:avLst/>
          </a:prstGeom>
        </p:spPr>
      </p:pic>
      <p:sp>
        <p:nvSpPr>
          <p:cNvPr id="13" name="Text 8"/>
          <p:cNvSpPr/>
          <p:nvPr/>
        </p:nvSpPr>
        <p:spPr>
          <a:xfrm>
            <a:off x="7772400" y="3272589"/>
            <a:ext cx="1371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t = 0.48</a:t>
            </a:r>
            <a:endParaRPr lang="en-US" sz="900" dirty="0"/>
          </a:p>
        </p:txBody>
      </p:sp>
      <p:pic>
        <p:nvPicPr>
          <p:cNvPr id="14" name="Image 3" descr="/home/claude/proj/figs/frame_25.png">    </p:cNvPr>
          <p:cNvPicPr>
            <a:picLocks noChangeAspect="1"/>
          </p:cNvPicPr>
          <p:nvPr/>
        </p:nvPicPr>
        <p:blipFill>
          <a:blip r:embed="rId4"/>
          <a:stretch>
            <a:fillRect/>
          </a:stretch>
        </p:blipFill>
        <p:spPr>
          <a:xfrm>
            <a:off x="7772400" y="3492045"/>
            <a:ext cx="1371600" cy="721895"/>
          </a:xfrm>
          <a:prstGeom prst="rect">
            <a:avLst/>
          </a:prstGeom>
        </p:spPr>
      </p:pic>
      <p:sp>
        <p:nvSpPr>
          <p:cNvPr id="15" name="Text 9"/>
          <p:cNvSpPr/>
          <p:nvPr/>
        </p:nvSpPr>
        <p:spPr>
          <a:xfrm>
            <a:off x="7772400" y="4232228"/>
            <a:ext cx="1371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t = 1.00</a:t>
            </a:r>
            <a:endParaRPr lang="en-US" sz="900" dirty="0"/>
          </a:p>
        </p:txBody>
      </p:sp>
      <p:pic>
        <p:nvPicPr>
          <p:cNvPr id="16" name="Image 4" descr="/home/claude/proj/figs/frame_37.png">    </p:cNvPr>
          <p:cNvPicPr>
            <a:picLocks noChangeAspect="1"/>
          </p:cNvPicPr>
          <p:nvPr/>
        </p:nvPicPr>
        <p:blipFill>
          <a:blip r:embed="rId5"/>
          <a:stretch>
            <a:fillRect/>
          </a:stretch>
        </p:blipFill>
        <p:spPr>
          <a:xfrm>
            <a:off x="7772400" y="4451684"/>
            <a:ext cx="1371600" cy="721895"/>
          </a:xfrm>
          <a:prstGeom prst="rect">
            <a:avLst/>
          </a:prstGeom>
        </p:spPr>
      </p:pic>
      <p:sp>
        <p:nvSpPr>
          <p:cNvPr id="17" name="Text 10"/>
          <p:cNvSpPr/>
          <p:nvPr/>
        </p:nvSpPr>
        <p:spPr>
          <a:xfrm>
            <a:off x="7772400" y="5191867"/>
            <a:ext cx="1371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t = 1.48</a:t>
            </a:r>
            <a:endParaRPr lang="en-US" sz="900" dirty="0"/>
          </a:p>
        </p:txBody>
      </p:sp>
      <p:pic>
        <p:nvPicPr>
          <p:cNvPr id="18" name="Image 5" descr="/home/claude/proj/figs/frame_49.png">    </p:cNvPr>
          <p:cNvPicPr>
            <a:picLocks noChangeAspect="1"/>
          </p:cNvPicPr>
          <p:nvPr/>
        </p:nvPicPr>
        <p:blipFill>
          <a:blip r:embed="rId6"/>
          <a:stretch>
            <a:fillRect/>
          </a:stretch>
        </p:blipFill>
        <p:spPr>
          <a:xfrm>
            <a:off x="7772400" y="5411323"/>
            <a:ext cx="1371600" cy="721895"/>
          </a:xfrm>
          <a:prstGeom prst="rect">
            <a:avLst/>
          </a:prstGeom>
        </p:spPr>
      </p:pic>
      <p:sp>
        <p:nvSpPr>
          <p:cNvPr id="19" name="Text 11"/>
          <p:cNvSpPr/>
          <p:nvPr/>
        </p:nvSpPr>
        <p:spPr>
          <a:xfrm>
            <a:off x="7772400" y="6151506"/>
            <a:ext cx="1371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t = 1.96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Q3 · CONVERGENCE</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Second-Order Convergence, Confirmed</a:t>
            </a:r>
            <a:endParaRPr lang="en-US" sz="3000" dirty="0"/>
          </a:p>
        </p:txBody>
      </p:sp>
      <p:pic>
        <p:nvPicPr>
          <p:cNvPr id="6" name="Image 0" descr="/home/claude/proj/figs/fig_convergence.png">    </p:cNvPr>
          <p:cNvPicPr>
            <a:picLocks noChangeAspect="1"/>
          </p:cNvPicPr>
          <p:nvPr/>
        </p:nvPicPr>
        <p:blipFill>
          <a:blip r:embed="rId1"/>
          <a:stretch>
            <a:fillRect/>
          </a:stretch>
        </p:blipFill>
        <p:spPr>
          <a:xfrm>
            <a:off x="457200" y="1481328"/>
            <a:ext cx="5394960" cy="4087091"/>
          </a:xfrm>
          <a:prstGeom prst="rect">
            <a:avLst/>
          </a:prstGeom>
        </p:spPr>
      </p:pic>
      <p:sp>
        <p:nvSpPr>
          <p:cNvPr id="7" name="Shape 4"/>
          <p:cNvSpPr/>
          <p:nvPr/>
        </p:nvSpPr>
        <p:spPr>
          <a:xfrm>
            <a:off x="6080760" y="1572768"/>
            <a:ext cx="5623560" cy="4617720"/>
          </a:xfrm>
          <a:prstGeom prst="roundRect">
            <a:avLst>
              <a:gd name="adj" fmla="val 1584"/>
            </a:avLst>
          </a:prstGeom>
          <a:solidFill>
            <a:srgbClr val="F3F5F9"/>
          </a:solidFill>
          <a:ln/>
        </p:spPr>
      </p:sp>
      <p:sp>
        <p:nvSpPr>
          <p:cNvPr id="8" name="Text 5"/>
          <p:cNvSpPr/>
          <p:nvPr/>
        </p:nvSpPr>
        <p:spPr>
          <a:xfrm>
            <a:off x="6309360" y="1755648"/>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ERROR NORMS</a:t>
            </a:r>
            <a:endParaRPr lang="en-US" sz="1150" dirty="0"/>
          </a:p>
        </p:txBody>
      </p:sp>
      <p:pic>
        <p:nvPicPr>
          <p:cNvPr id="9" name="Image 1" descr="/home/claude/proj/figs/eq/e_inf.png">    </p:cNvPr>
          <p:cNvPicPr>
            <a:picLocks noChangeAspect="1"/>
          </p:cNvPicPr>
          <p:nvPr/>
        </p:nvPicPr>
        <p:blipFill>
          <a:blip r:embed="rId2"/>
          <a:stretch>
            <a:fillRect/>
          </a:stretch>
        </p:blipFill>
        <p:spPr>
          <a:xfrm>
            <a:off x="6309360" y="2066544"/>
            <a:ext cx="4206240" cy="805074"/>
          </a:xfrm>
          <a:prstGeom prst="rect">
            <a:avLst/>
          </a:prstGeom>
        </p:spPr>
      </p:pic>
      <p:pic>
        <p:nvPicPr>
          <p:cNvPr id="10" name="Image 2" descr="/home/claude/proj/figs/eq/e2.png">    </p:cNvPr>
          <p:cNvPicPr>
            <a:picLocks noChangeAspect="1"/>
          </p:cNvPicPr>
          <p:nvPr/>
        </p:nvPicPr>
        <p:blipFill>
          <a:blip r:embed="rId3"/>
          <a:stretch>
            <a:fillRect/>
          </a:stretch>
        </p:blipFill>
        <p:spPr>
          <a:xfrm>
            <a:off x="6309360" y="2724912"/>
            <a:ext cx="4206240" cy="940936"/>
          </a:xfrm>
          <a:prstGeom prst="rect">
            <a:avLst/>
          </a:prstGeom>
        </p:spPr>
      </p:pic>
      <p:sp>
        <p:nvSpPr>
          <p:cNvPr id="11" name="Text 6"/>
          <p:cNvSpPr/>
          <p:nvPr/>
        </p:nvSpPr>
        <p:spPr>
          <a:xfrm>
            <a:off x="6309360" y="3703320"/>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OBSERVED CONVERGENCE ORDER (Einf)</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309360" y="4023360"/>
          <a:ext cx="5120640" cy="914400"/>
        </p:xfrm>
        <a:graphic>
          <a:graphicData uri="http://schemas.openxmlformats.org/drawingml/2006/table">
            <a:tbl>
              <a:tblPr/>
              <a:tblGrid>
                <a:gridCol w="1554480"/>
                <a:gridCol w="1828800"/>
                <a:gridCol w="1737360"/>
              </a:tblGrid>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Δx</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Order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10→20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0.1→0.05</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2.68</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20→40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0.05→0.025</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40→80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0.025→0.0125</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2.93</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32004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80→160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0.0125→0.00625</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2.97</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13" name="Text 7"/>
          <p:cNvSpPr/>
          <p:nvPr/>
        </p:nvSpPr>
        <p:spPr>
          <a:xfrm>
            <a:off x="6309360" y="5623560"/>
            <a:ext cx="51206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Order → 2 as Δx → 0, confirming the O(Δt² + Δx²) truncation analysis of Question 1.</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9692640" y="2926080"/>
            <a:ext cx="5120640" cy="5120640"/>
          </a:xfrm>
          <a:prstGeom prst="ellipse">
            <a:avLst/>
          </a:prstGeom>
          <a:solidFill>
            <a:srgbClr val="1D2C4C"/>
          </a:solidFill>
          <a:ln/>
        </p:spPr>
      </p:sp>
      <p:sp>
        <p:nvSpPr>
          <p:cNvPr id="3" name="Text 1"/>
          <p:cNvSpPr/>
          <p:nvPr/>
        </p:nvSpPr>
        <p:spPr>
          <a:xfrm>
            <a:off x="914400" y="2331720"/>
            <a:ext cx="7315200" cy="411480"/>
          </a:xfrm>
          <a:prstGeom prst="rect">
            <a:avLst/>
          </a:prstGeom>
          <a:noFill/>
          <a:ln/>
        </p:spPr>
        <p:txBody>
          <a:bodyPr wrap="square" lIns="0" tIns="0" rIns="0" bIns="0" rtlCol="0" anchor="ctr"/>
          <a:lstStyle/>
          <a:p>
            <a:pPr indent="0" marL="0">
              <a:buNone/>
            </a:pPr>
            <a:r>
              <a:rPr lang="en-US" sz="1400" b="1" spc="300" kern="0" dirty="0">
                <a:solidFill>
                  <a:srgbClr val="D46A00"/>
                </a:solidFill>
                <a:latin typeface="Calibri" pitchFamily="34" charset="0"/>
                <a:ea typeface="Calibri" pitchFamily="34" charset="-122"/>
                <a:cs typeface="Calibri" pitchFamily="34" charset="-120"/>
              </a:rPr>
              <a:t>QUESTION 4</a:t>
            </a:r>
            <a:endParaRPr lang="en-US" sz="1400" dirty="0"/>
          </a:p>
        </p:txBody>
      </p:sp>
      <p:sp>
        <p:nvSpPr>
          <p:cNvPr id="4" name="Text 2"/>
          <p:cNvSpPr/>
          <p:nvPr/>
        </p:nvSpPr>
        <p:spPr>
          <a:xfrm>
            <a:off x="914400" y="2724912"/>
            <a:ext cx="987552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Numerical Computation of the Energy</a:t>
            </a:r>
            <a:endParaRPr lang="en-US" sz="3800" dirty="0"/>
          </a:p>
        </p:txBody>
      </p:sp>
      <p:sp>
        <p:nvSpPr>
          <p:cNvPr id="5" name="Text 3"/>
          <p:cNvSpPr/>
          <p:nvPr/>
        </p:nvSpPr>
        <p:spPr>
          <a:xfrm>
            <a:off x="914400" y="3703320"/>
            <a:ext cx="8778240" cy="640080"/>
          </a:xfrm>
          <a:prstGeom prst="rect">
            <a:avLst/>
          </a:prstGeom>
          <a:noFill/>
          <a:ln/>
        </p:spPr>
        <p:txBody>
          <a:bodyPr wrap="square" lIns="0" tIns="0" rIns="0" bIns="0" rtlCol="0" anchor="ctr"/>
          <a:lstStyle/>
          <a:p>
            <a:pPr indent="0" marL="0">
              <a:buNone/>
            </a:pPr>
            <a:r>
              <a:rPr lang="en-US" sz="1500" i="1" dirty="0">
                <a:solidFill>
                  <a:srgbClr val="AAB8D6"/>
                </a:solidFill>
                <a:latin typeface="Calibri" pitchFamily="34" charset="0"/>
                <a:ea typeface="Calibri" pitchFamily="34" charset="-122"/>
                <a:cs typeface="Calibri" pitchFamily="34" charset="-120"/>
              </a:rPr>
              <a:t>Tracking the mechanical energy of the string with the Composite Simpson Rule.</a:t>
            </a:r>
            <a:endParaRPr lang="en-US" sz="1500" dirty="0"/>
          </a:p>
        </p:txBody>
      </p:sp>
      <p:sp>
        <p:nvSpPr>
          <p:cNvPr id="6" name="Text 4"/>
          <p:cNvSpPr/>
          <p:nvPr/>
        </p:nvSpPr>
        <p:spPr>
          <a:xfrm>
            <a:off x="914400" y="5989320"/>
            <a:ext cx="2743200" cy="365760"/>
          </a:xfrm>
          <a:prstGeom prst="rect">
            <a:avLst/>
          </a:prstGeom>
          <a:noFill/>
          <a:ln/>
        </p:spPr>
        <p:txBody>
          <a:bodyPr wrap="square" lIns="0" tIns="0" rIns="0" bIns="0" rtlCol="0" anchor="ctr"/>
          <a:lstStyle/>
          <a:p>
            <a:pPr indent="0" marL="0">
              <a:buNone/>
            </a:pPr>
            <a:r>
              <a:rPr lang="en-US" sz="1300" dirty="0">
                <a:solidFill>
                  <a:srgbClr val="56659A"/>
                </a:solidFill>
                <a:latin typeface="Courier New" pitchFamily="34" charset="0"/>
                <a:ea typeface="Courier New" pitchFamily="34" charset="-122"/>
                <a:cs typeface="Courier New" pitchFamily="34" charset="-120"/>
              </a:rPr>
              <a:t>04 / 05</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Q4 · ENERGY THEORY</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Mechanical Energy &amp; Simpson's Rule</a:t>
            </a:r>
            <a:endParaRPr lang="en-US" sz="3000" dirty="0"/>
          </a:p>
        </p:txBody>
      </p:sp>
      <p:sp>
        <p:nvSpPr>
          <p:cNvPr id="6" name="Shape 4"/>
          <p:cNvSpPr/>
          <p:nvPr/>
        </p:nvSpPr>
        <p:spPr>
          <a:xfrm>
            <a:off x="457200" y="1572768"/>
            <a:ext cx="5623560" cy="4617720"/>
          </a:xfrm>
          <a:prstGeom prst="roundRect">
            <a:avLst>
              <a:gd name="adj" fmla="val 1584"/>
            </a:avLst>
          </a:prstGeom>
          <a:solidFill>
            <a:srgbClr val="F3F5F9"/>
          </a:solidFill>
          <a:ln/>
        </p:spPr>
      </p:sp>
      <p:sp>
        <p:nvSpPr>
          <p:cNvPr id="7" name="Text 5"/>
          <p:cNvSpPr/>
          <p:nvPr/>
        </p:nvSpPr>
        <p:spPr>
          <a:xfrm>
            <a:off x="685800" y="1755648"/>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CONTINUOUS ENERGY (KINETIC + ELASTIC)</a:t>
            </a:r>
            <a:endParaRPr lang="en-US" sz="1150" dirty="0"/>
          </a:p>
        </p:txBody>
      </p:sp>
      <p:pic>
        <p:nvPicPr>
          <p:cNvPr id="8" name="Image 0" descr="/home/claude/proj/figs/eq/energy_def.png">    </p:cNvPr>
          <p:cNvPicPr>
            <a:picLocks noChangeAspect="1"/>
          </p:cNvPicPr>
          <p:nvPr/>
        </p:nvPicPr>
        <p:blipFill>
          <a:blip r:embed="rId1"/>
          <a:stretch>
            <a:fillRect/>
          </a:stretch>
        </p:blipFill>
        <p:spPr>
          <a:xfrm>
            <a:off x="777240" y="2084832"/>
            <a:ext cx="4572000" cy="715518"/>
          </a:xfrm>
          <a:prstGeom prst="rect">
            <a:avLst/>
          </a:prstGeom>
        </p:spPr>
      </p:pic>
      <p:pic>
        <p:nvPicPr>
          <p:cNvPr id="9" name="Image 1" descr="/home/claude/proj/figs/eq/energy_conserv.png">    </p:cNvPr>
          <p:cNvPicPr>
            <a:picLocks noChangeAspect="1"/>
          </p:cNvPicPr>
          <p:nvPr/>
        </p:nvPicPr>
        <p:blipFill>
          <a:blip r:embed="rId2"/>
          <a:stretch>
            <a:fillRect/>
          </a:stretch>
        </p:blipFill>
        <p:spPr>
          <a:xfrm>
            <a:off x="777240" y="2834640"/>
            <a:ext cx="4206240" cy="598127"/>
          </a:xfrm>
          <a:prstGeom prst="rect">
            <a:avLst/>
          </a:prstGeom>
        </p:spPr>
      </p:pic>
      <p:sp>
        <p:nvSpPr>
          <p:cNvPr id="10" name="Text 6"/>
          <p:cNvSpPr/>
          <p:nvPr/>
        </p:nvSpPr>
        <p:spPr>
          <a:xfrm>
            <a:off x="685800" y="3429000"/>
            <a:ext cx="5120640" cy="6858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For the homogeneous string (f ≡ 0), differentiating E(t) and using the PDE + boundary conditions shows energy is exactly conserved.</a:t>
            </a:r>
            <a:endParaRPr lang="en-US" sz="1250" dirty="0"/>
          </a:p>
        </p:txBody>
      </p:sp>
      <p:sp>
        <p:nvSpPr>
          <p:cNvPr id="11" name="Text 7"/>
          <p:cNvSpPr/>
          <p:nvPr/>
        </p:nvSpPr>
        <p:spPr>
          <a:xfrm>
            <a:off x="685800" y="4206240"/>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DERIVATIVE APPROXIMATIONS</a:t>
            </a:r>
            <a:endParaRPr lang="en-US" sz="1150" dirty="0"/>
          </a:p>
        </p:txBody>
      </p:sp>
      <p:sp>
        <p:nvSpPr>
          <p:cNvPr id="12" name="Text 8"/>
          <p:cNvSpPr/>
          <p:nvPr/>
        </p:nvSpPr>
        <p:spPr>
          <a:xfrm>
            <a:off x="777240" y="4526280"/>
            <a:ext cx="4937760" cy="777240"/>
          </a:xfrm>
          <a:prstGeom prst="rect">
            <a:avLst/>
          </a:prstGeom>
          <a:noFill/>
          <a:ln/>
        </p:spPr>
        <p:txBody>
          <a:bodyPr wrap="square" lIns="0" tIns="0" rIns="0" bIns="0" rtlCol="0" anchor="ctr"/>
          <a:lstStyle/>
          <a:p>
            <a:pPr indent="0" marL="0">
              <a:lnSpc>
                <a:spcPct val="135000"/>
              </a:lnSpc>
              <a:buNone/>
            </a:pPr>
            <a:r>
              <a:rPr lang="en-US" sz="1200" dirty="0">
                <a:solidFill>
                  <a:srgbClr val="1E293B"/>
                </a:solidFill>
                <a:latin typeface="Courier New" pitchFamily="34" charset="0"/>
                <a:ea typeface="Courier New" pitchFamily="34" charset="-122"/>
                <a:cs typeface="Courier New" pitchFamily="34" charset="-120"/>
              </a:rPr>
              <a:t>ut  ≈  (u</a:t>
            </a:r>
            <a:pPr indent="0" marL="0">
              <a:lnSpc>
                <a:spcPct val="135000"/>
              </a:lnSpc>
              <a:buNone/>
            </a:pPr>
            <a:r>
              <a:rPr lang="en-US" sz="1200" baseline="30000" dirty="0">
                <a:solidFill>
                  <a:srgbClr val="1E293B"/>
                </a:solidFill>
                <a:latin typeface="Courier New" pitchFamily="34" charset="0"/>
                <a:ea typeface="Courier New" pitchFamily="34" charset="-122"/>
                <a:cs typeface="Courier New" pitchFamily="34" charset="-120"/>
              </a:rPr>
              <a:t>n+1</a:t>
            </a:r>
            <a:pPr indent="0" marL="0">
              <a:lnSpc>
                <a:spcPct val="135000"/>
              </a:lnSpc>
              <a:buNone/>
            </a:pPr>
            <a:r>
              <a:rPr lang="en-US" sz="1200" dirty="0">
                <a:solidFill>
                  <a:srgbClr val="1E293B"/>
                </a:solidFill>
                <a:latin typeface="Courier New" pitchFamily="34" charset="0"/>
                <a:ea typeface="Courier New" pitchFamily="34" charset="-122"/>
                <a:cs typeface="Courier New" pitchFamily="34" charset="-120"/>
              </a:rPr>
              <a:t> − u</a:t>
            </a:r>
            <a:pPr indent="0" marL="0">
              <a:lnSpc>
                <a:spcPct val="135000"/>
              </a:lnSpc>
              <a:buNone/>
            </a:pPr>
            <a:r>
              <a:rPr lang="en-US" sz="1200" baseline="30000" dirty="0">
                <a:solidFill>
                  <a:srgbClr val="1E293B"/>
                </a:solidFill>
                <a:latin typeface="Courier New" pitchFamily="34" charset="0"/>
                <a:ea typeface="Courier New" pitchFamily="34" charset="-122"/>
                <a:cs typeface="Courier New" pitchFamily="34" charset="-120"/>
              </a:rPr>
              <a:t>n−1</a:t>
            </a:r>
            <a:pPr indent="0" marL="0">
              <a:lnSpc>
                <a:spcPct val="135000"/>
              </a:lnSpc>
              <a:buNone/>
            </a:pPr>
            <a:r>
              <a:rPr lang="en-US" sz="1200" dirty="0">
                <a:solidFill>
                  <a:srgbClr val="1E293B"/>
                </a:solidFill>
                <a:latin typeface="Courier New" pitchFamily="34" charset="0"/>
                <a:ea typeface="Courier New" pitchFamily="34" charset="-122"/>
                <a:cs typeface="Courier New" pitchFamily="34" charset="-120"/>
              </a:rPr>
              <a:t>) / (2Δt)   — centered in time</a:t>
            </a:r>
            <a:endParaRPr lang="en-US" sz="1200" dirty="0"/>
          </a:p>
          <a:p>
            <a:pPr indent="0" marL="0">
              <a:lnSpc>
                <a:spcPct val="135000"/>
              </a:lnSpc>
              <a:buNone/>
            </a:pPr>
            <a:r>
              <a:rPr lang="en-US" sz="1200" dirty="0">
                <a:solidFill>
                  <a:srgbClr val="1E293B"/>
                </a:solidFill>
                <a:latin typeface="Courier New" pitchFamily="34" charset="0"/>
                <a:ea typeface="Courier New" pitchFamily="34" charset="-122"/>
                <a:cs typeface="Courier New" pitchFamily="34" charset="-120"/>
              </a:rPr>
              <a:t>ux  ≈  (u</a:t>
            </a:r>
            <a:pPr indent="0" marL="0">
              <a:lnSpc>
                <a:spcPct val="135000"/>
              </a:lnSpc>
              <a:buNone/>
            </a:pPr>
            <a:r>
              <a:rPr lang="en-US" sz="1200" baseline="-40000" dirty="0">
                <a:solidFill>
                  <a:srgbClr val="1E293B"/>
                </a:solidFill>
                <a:latin typeface="Courier New" pitchFamily="34" charset="0"/>
                <a:ea typeface="Courier New" pitchFamily="34" charset="-122"/>
                <a:cs typeface="Courier New" pitchFamily="34" charset="-120"/>
              </a:rPr>
              <a:t>i+1</a:t>
            </a:r>
            <a:pPr indent="0" marL="0">
              <a:lnSpc>
                <a:spcPct val="135000"/>
              </a:lnSpc>
              <a:buNone/>
            </a:pPr>
            <a:r>
              <a:rPr lang="en-US" sz="1200" dirty="0">
                <a:solidFill>
                  <a:srgbClr val="1E293B"/>
                </a:solidFill>
                <a:latin typeface="Courier New" pitchFamily="34" charset="0"/>
                <a:ea typeface="Courier New" pitchFamily="34" charset="-122"/>
                <a:cs typeface="Courier New" pitchFamily="34" charset="-120"/>
              </a:rPr>
              <a:t> − u</a:t>
            </a:r>
            <a:pPr indent="0" marL="0">
              <a:lnSpc>
                <a:spcPct val="135000"/>
              </a:lnSpc>
              <a:buNone/>
            </a:pPr>
            <a:r>
              <a:rPr lang="en-US" sz="1200" baseline="-40000" dirty="0">
                <a:solidFill>
                  <a:srgbClr val="1E293B"/>
                </a:solidFill>
                <a:latin typeface="Courier New" pitchFamily="34" charset="0"/>
                <a:ea typeface="Courier New" pitchFamily="34" charset="-122"/>
                <a:cs typeface="Courier New" pitchFamily="34" charset="-120"/>
              </a:rPr>
              <a:t>i−1</a:t>
            </a:r>
            <a:pPr indent="0" marL="0">
              <a:lnSpc>
                <a:spcPct val="135000"/>
              </a:lnSpc>
              <a:buNone/>
            </a:pPr>
            <a:r>
              <a:rPr lang="en-US" sz="1200" dirty="0">
                <a:solidFill>
                  <a:srgbClr val="1E293B"/>
                </a:solidFill>
                <a:latin typeface="Courier New" pitchFamily="34" charset="0"/>
                <a:ea typeface="Courier New" pitchFamily="34" charset="-122"/>
                <a:cs typeface="Courier New" pitchFamily="34" charset="-120"/>
              </a:rPr>
              <a:t>) / (2Δx)   — centered in space</a:t>
            </a:r>
            <a:endParaRPr lang="en-US" sz="1200" dirty="0"/>
          </a:p>
        </p:txBody>
      </p:sp>
      <p:sp>
        <p:nvSpPr>
          <p:cNvPr id="13" name="Shape 9"/>
          <p:cNvSpPr/>
          <p:nvPr/>
        </p:nvSpPr>
        <p:spPr>
          <a:xfrm>
            <a:off x="6309360" y="1572768"/>
            <a:ext cx="5422392" cy="4617720"/>
          </a:xfrm>
          <a:prstGeom prst="roundRect">
            <a:avLst>
              <a:gd name="adj" fmla="val 1584"/>
            </a:avLst>
          </a:prstGeom>
          <a:solidFill>
            <a:srgbClr val="1B2A4A"/>
          </a:solidFill>
          <a:ln/>
        </p:spPr>
      </p:sp>
      <p:sp>
        <p:nvSpPr>
          <p:cNvPr id="14" name="Text 10"/>
          <p:cNvSpPr/>
          <p:nvPr/>
        </p:nvSpPr>
        <p:spPr>
          <a:xfrm>
            <a:off x="6537960" y="1755648"/>
            <a:ext cx="493776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COMPOSITE SIMPSON RULE</a:t>
            </a:r>
            <a:endParaRPr lang="en-US" sz="1150" dirty="0"/>
          </a:p>
        </p:txBody>
      </p:sp>
      <p:pic>
        <p:nvPicPr>
          <p:cNvPr id="15" name="Image 2" descr="/home/claude/proj/figs/eq/simpson_w.png">    </p:cNvPr>
          <p:cNvPicPr>
            <a:picLocks noChangeAspect="1"/>
          </p:cNvPicPr>
          <p:nvPr/>
        </p:nvPicPr>
        <p:blipFill>
          <a:blip r:embed="rId3"/>
          <a:stretch>
            <a:fillRect/>
          </a:stretch>
        </p:blipFill>
        <p:spPr>
          <a:xfrm>
            <a:off x="6537960" y="2103120"/>
            <a:ext cx="4937760" cy="748071"/>
          </a:xfrm>
          <a:prstGeom prst="rect">
            <a:avLst/>
          </a:prstGeom>
        </p:spPr>
      </p:pic>
      <p:sp>
        <p:nvSpPr>
          <p:cNvPr id="16" name="Text 11"/>
          <p:cNvSpPr/>
          <p:nvPr/>
        </p:nvSpPr>
        <p:spPr>
          <a:xfrm>
            <a:off x="6537960" y="3246120"/>
            <a:ext cx="4937760" cy="2651760"/>
          </a:xfrm>
          <a:prstGeom prst="rect">
            <a:avLst/>
          </a:prstGeom>
          <a:noFill/>
          <a:ln/>
        </p:spPr>
        <p:txBody>
          <a:bodyPr wrap="square" lIns="0" tIns="0" rIns="0" bIns="0" rtlCol="0" anchor="t"/>
          <a:lstStyle/>
          <a:p>
            <a:pPr indent="0" marL="0">
              <a:buNone/>
            </a:pPr>
            <a:r>
              <a:rPr lang="en-US" sz="1250" b="1" dirty="0">
                <a:solidFill>
                  <a:srgbClr val="8FD9C4"/>
                </a:solidFill>
                <a:latin typeface="Calibri" pitchFamily="34" charset="0"/>
                <a:ea typeface="Calibri" pitchFamily="34" charset="-122"/>
                <a:cs typeface="Calibri" pitchFamily="34" charset="-120"/>
              </a:rPr>
              <a:t>Weights: </a:t>
            </a:r>
            <a:endParaRPr lang="en-US" sz="1250" dirty="0"/>
          </a:p>
          <a:p>
            <a:pPr indent="0" marL="0">
              <a:buNone/>
            </a:pPr>
            <a:r>
              <a:rPr lang="en-US" sz="1250" dirty="0">
                <a:solidFill>
                  <a:srgbClr val="FFFFFF"/>
                </a:solidFill>
                <a:latin typeface="Courier New" pitchFamily="34" charset="0"/>
                <a:ea typeface="Courier New" pitchFamily="34" charset="-122"/>
                <a:cs typeface="Courier New" pitchFamily="34" charset="-120"/>
              </a:rPr>
              <a:t>w0 = wN = 1,   wi = 4 (i odd),   wi = 2 (i even)</a:t>
            </a:r>
            <a:endParaRPr lang="en-US" sz="1250" dirty="0"/>
          </a:p>
          <a:p>
            <a:pPr indent="0" marL="0">
              <a:buNone/>
            </a:pPr>
            <a:endParaRPr lang="en-US" sz="1250" dirty="0"/>
          </a:p>
          <a:p>
            <a:pPr indent="0" marL="0">
              <a:buNone/>
            </a:pPr>
            <a:r>
              <a:rPr lang="en-US" sz="1250" dirty="0">
                <a:solidFill>
                  <a:srgbClr val="C9D3E8"/>
                </a:solidFill>
                <a:latin typeface="Calibri" pitchFamily="34" charset="0"/>
                <a:ea typeface="Calibri" pitchFamily="34" charset="-122"/>
                <a:cs typeface="Calibri" pitchFamily="34" charset="-120"/>
              </a:rPr>
              <a:t>Quadrature error: O(Δx⁴) — two orders better than the O(Δx²) PDE solver, so it contributes negligible error to E(t).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Q4 · ENERGY RESULTS</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Forced vs. Homogeneous: Energy Behaves as Predicted</a:t>
            </a:r>
            <a:endParaRPr lang="en-US" sz="3000" dirty="0"/>
          </a:p>
        </p:txBody>
      </p:sp>
      <p:pic>
        <p:nvPicPr>
          <p:cNvPr id="6" name="Image 0" descr="/home/claude/proj/figs/fig_energy_both.png">    </p:cNvPr>
          <p:cNvPicPr>
            <a:picLocks noChangeAspect="1"/>
          </p:cNvPicPr>
          <p:nvPr/>
        </p:nvPicPr>
        <p:blipFill>
          <a:blip r:embed="rId1"/>
          <a:stretch>
            <a:fillRect/>
          </a:stretch>
        </p:blipFill>
        <p:spPr>
          <a:xfrm>
            <a:off x="1161288" y="1417320"/>
            <a:ext cx="9875520" cy="3988191"/>
          </a:xfrm>
          <a:prstGeom prst="rect">
            <a:avLst/>
          </a:prstGeom>
        </p:spPr>
      </p:pic>
      <p:sp>
        <p:nvSpPr>
          <p:cNvPr id="7" name="Shape 4"/>
          <p:cNvSpPr/>
          <p:nvPr/>
        </p:nvSpPr>
        <p:spPr>
          <a:xfrm>
            <a:off x="685800" y="5532120"/>
            <a:ext cx="5257800" cy="868680"/>
          </a:xfrm>
          <a:prstGeom prst="roundRect">
            <a:avLst>
              <a:gd name="adj" fmla="val 8421"/>
            </a:avLst>
          </a:prstGeom>
          <a:solidFill>
            <a:srgbClr val="F3F5F9"/>
          </a:solidFill>
          <a:ln/>
        </p:spPr>
      </p:sp>
      <p:sp>
        <p:nvSpPr>
          <p:cNvPr id="8" name="Text 5"/>
          <p:cNvSpPr/>
          <p:nvPr/>
        </p:nvSpPr>
        <p:spPr>
          <a:xfrm>
            <a:off x="868680" y="5669280"/>
            <a:ext cx="4937760" cy="594360"/>
          </a:xfrm>
          <a:prstGeom prst="rect">
            <a:avLst/>
          </a:prstGeom>
          <a:noFill/>
          <a:ln/>
        </p:spPr>
        <p:txBody>
          <a:bodyPr wrap="square" lIns="0" tIns="0" rIns="0" bIns="0" rtlCol="0" anchor="ctr"/>
          <a:lstStyle/>
          <a:p>
            <a:pPr indent="0" marL="0">
              <a:buNone/>
            </a:pPr>
            <a:r>
              <a:rPr lang="en-US" sz="1150" b="1" dirty="0">
                <a:solidFill>
                  <a:srgbClr val="0F6E6A"/>
                </a:solidFill>
                <a:latin typeface="Calibri" pitchFamily="34" charset="0"/>
                <a:ea typeface="Calibri" pitchFamily="34" charset="-122"/>
                <a:cs typeface="Calibri" pitchFamily="34" charset="-120"/>
              </a:rPr>
              <a:t>Homogeneous (f = 0):  </a:t>
            </a:r>
            <a:pPr indent="0" marL="0">
              <a:buNone/>
            </a:pPr>
            <a:r>
              <a:rPr lang="en-US" sz="1150" dirty="0">
                <a:solidFill>
                  <a:srgbClr val="1E293B"/>
                </a:solidFill>
                <a:latin typeface="Calibri" pitchFamily="34" charset="0"/>
                <a:ea typeface="Calibri" pitchFamily="34" charset="-122"/>
                <a:cs typeface="Calibri" pitchFamily="34" charset="-120"/>
              </a:rPr>
              <a:t>energy stays near π²/4 ≈ 2.467, drifting only through O(Δt²) velocity-derivative error.</a:t>
            </a:r>
            <a:endParaRPr lang="en-US" sz="1150" dirty="0"/>
          </a:p>
        </p:txBody>
      </p:sp>
      <p:sp>
        <p:nvSpPr>
          <p:cNvPr id="9" name="Shape 6"/>
          <p:cNvSpPr/>
          <p:nvPr/>
        </p:nvSpPr>
        <p:spPr>
          <a:xfrm>
            <a:off x="6217920" y="5532120"/>
            <a:ext cx="5257800" cy="868680"/>
          </a:xfrm>
          <a:prstGeom prst="roundRect">
            <a:avLst>
              <a:gd name="adj" fmla="val 8421"/>
            </a:avLst>
          </a:prstGeom>
          <a:solidFill>
            <a:srgbClr val="F3F5F9"/>
          </a:solidFill>
          <a:ln/>
        </p:spPr>
      </p:sp>
      <p:sp>
        <p:nvSpPr>
          <p:cNvPr id="10" name="Text 7"/>
          <p:cNvSpPr/>
          <p:nvPr/>
        </p:nvSpPr>
        <p:spPr>
          <a:xfrm>
            <a:off x="6400800" y="5669280"/>
            <a:ext cx="4937760" cy="594360"/>
          </a:xfrm>
          <a:prstGeom prst="rect">
            <a:avLst/>
          </a:prstGeom>
          <a:noFill/>
          <a:ln/>
        </p:spPr>
        <p:txBody>
          <a:bodyPr wrap="square" lIns="0" tIns="0" rIns="0" bIns="0" rtlCol="0" anchor="ctr"/>
          <a:lstStyle/>
          <a:p>
            <a:pPr indent="0" marL="0">
              <a:buNone/>
            </a:pPr>
            <a:r>
              <a:rPr lang="en-US" sz="1150" b="1" dirty="0">
                <a:solidFill>
                  <a:srgbClr val="D46A00"/>
                </a:solidFill>
                <a:latin typeface="Calibri" pitchFamily="34" charset="0"/>
                <a:ea typeface="Calibri" pitchFamily="34" charset="-122"/>
                <a:cs typeface="Calibri" pitchFamily="34" charset="-120"/>
              </a:rPr>
              <a:t>Forced (f ≠ 0):  </a:t>
            </a:r>
            <a:pPr indent="0" marL="0">
              <a:buNone/>
            </a:pPr>
            <a:r>
              <a:rPr lang="en-US" sz="1150" dirty="0">
                <a:solidFill>
                  <a:srgbClr val="1E293B"/>
                </a:solidFill>
                <a:latin typeface="Calibri" pitchFamily="34" charset="0"/>
                <a:ea typeface="Calibri" pitchFamily="34" charset="-122"/>
                <a:cs typeface="Calibri" pitchFamily="34" charset="-120"/>
              </a:rPr>
              <a:t>energy oscillates between ≈ 1.6 and ≈ 10 — the source term continuously injects and removes energy.</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9692640" y="2926080"/>
            <a:ext cx="5120640" cy="5120640"/>
          </a:xfrm>
          <a:prstGeom prst="ellipse">
            <a:avLst/>
          </a:prstGeom>
          <a:solidFill>
            <a:srgbClr val="1D2C4C"/>
          </a:solidFill>
          <a:ln/>
        </p:spPr>
      </p:sp>
      <p:sp>
        <p:nvSpPr>
          <p:cNvPr id="3" name="Text 1"/>
          <p:cNvSpPr/>
          <p:nvPr/>
        </p:nvSpPr>
        <p:spPr>
          <a:xfrm>
            <a:off x="914400" y="2331720"/>
            <a:ext cx="7315200" cy="411480"/>
          </a:xfrm>
          <a:prstGeom prst="rect">
            <a:avLst/>
          </a:prstGeom>
          <a:noFill/>
          <a:ln/>
        </p:spPr>
        <p:txBody>
          <a:bodyPr wrap="square" lIns="0" tIns="0" rIns="0" bIns="0" rtlCol="0" anchor="ctr"/>
          <a:lstStyle/>
          <a:p>
            <a:pPr indent="0" marL="0">
              <a:buNone/>
            </a:pPr>
            <a:r>
              <a:rPr lang="en-US" sz="1400" b="1" spc="300" kern="0" dirty="0">
                <a:solidFill>
                  <a:srgbClr val="D46A00"/>
                </a:solidFill>
                <a:latin typeface="Calibri" pitchFamily="34" charset="0"/>
                <a:ea typeface="Calibri" pitchFamily="34" charset="-122"/>
                <a:cs typeface="Calibri" pitchFamily="34" charset="-120"/>
              </a:rPr>
              <a:t>QUESTION 5</a:t>
            </a:r>
            <a:endParaRPr lang="en-US" sz="1400" dirty="0"/>
          </a:p>
        </p:txBody>
      </p:sp>
      <p:sp>
        <p:nvSpPr>
          <p:cNvPr id="4" name="Text 2"/>
          <p:cNvSpPr/>
          <p:nvPr/>
        </p:nvSpPr>
        <p:spPr>
          <a:xfrm>
            <a:off x="914400" y="2724912"/>
            <a:ext cx="987552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Identification of the Wave Speed</a:t>
            </a:r>
            <a:endParaRPr lang="en-US" sz="3800" dirty="0"/>
          </a:p>
        </p:txBody>
      </p:sp>
      <p:sp>
        <p:nvSpPr>
          <p:cNvPr id="5" name="Text 3"/>
          <p:cNvSpPr/>
          <p:nvPr/>
        </p:nvSpPr>
        <p:spPr>
          <a:xfrm>
            <a:off x="914400" y="3703320"/>
            <a:ext cx="8778240" cy="640080"/>
          </a:xfrm>
          <a:prstGeom prst="rect">
            <a:avLst/>
          </a:prstGeom>
          <a:noFill/>
          <a:ln/>
        </p:spPr>
        <p:txBody>
          <a:bodyPr wrap="square" lIns="0" tIns="0" rIns="0" bIns="0" rtlCol="0" anchor="ctr"/>
          <a:lstStyle/>
          <a:p>
            <a:pPr indent="0" marL="0">
              <a:buNone/>
            </a:pPr>
            <a:r>
              <a:rPr lang="en-US" sz="1500" i="1" dirty="0">
                <a:solidFill>
                  <a:srgbClr val="AAB8D6"/>
                </a:solidFill>
                <a:latin typeface="Calibri" pitchFamily="34" charset="0"/>
                <a:ea typeface="Calibri" pitchFamily="34" charset="-122"/>
                <a:cs typeface="Calibri" pitchFamily="34" charset="-120"/>
              </a:rPr>
              <a:t>An inverse problem: recovering a physical parameter from a single sensor reading.</a:t>
            </a:r>
            <a:endParaRPr lang="en-US" sz="1500" dirty="0"/>
          </a:p>
        </p:txBody>
      </p:sp>
      <p:sp>
        <p:nvSpPr>
          <p:cNvPr id="6" name="Text 4"/>
          <p:cNvSpPr/>
          <p:nvPr/>
        </p:nvSpPr>
        <p:spPr>
          <a:xfrm>
            <a:off x="914400" y="5989320"/>
            <a:ext cx="2743200" cy="365760"/>
          </a:xfrm>
          <a:prstGeom prst="rect">
            <a:avLst/>
          </a:prstGeom>
          <a:noFill/>
          <a:ln/>
        </p:spPr>
        <p:txBody>
          <a:bodyPr wrap="square" lIns="0" tIns="0" rIns="0" bIns="0" rtlCol="0" anchor="ctr"/>
          <a:lstStyle/>
          <a:p>
            <a:pPr indent="0" marL="0">
              <a:buNone/>
            </a:pPr>
            <a:r>
              <a:rPr lang="en-US" sz="1300" dirty="0">
                <a:solidFill>
                  <a:srgbClr val="56659A"/>
                </a:solidFill>
                <a:latin typeface="Courier New" pitchFamily="34" charset="0"/>
                <a:ea typeface="Courier New" pitchFamily="34" charset="-122"/>
                <a:cs typeface="Courier New" pitchFamily="34" charset="-120"/>
              </a:rPr>
              <a:t>05 / 05</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Q5 · INVERSE PROBLEM</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From a Sensor Reading Back to the Physics</a:t>
            </a:r>
            <a:endParaRPr lang="en-US" sz="3000" dirty="0"/>
          </a:p>
        </p:txBody>
      </p:sp>
      <p:sp>
        <p:nvSpPr>
          <p:cNvPr id="6" name="Shape 4"/>
          <p:cNvSpPr/>
          <p:nvPr/>
        </p:nvSpPr>
        <p:spPr>
          <a:xfrm>
            <a:off x="457200" y="1572768"/>
            <a:ext cx="5623560" cy="4617720"/>
          </a:xfrm>
          <a:prstGeom prst="roundRect">
            <a:avLst>
              <a:gd name="adj" fmla="val 1584"/>
            </a:avLst>
          </a:prstGeom>
          <a:solidFill>
            <a:srgbClr val="F3F5F9"/>
          </a:solidFill>
          <a:ln/>
        </p:spPr>
      </p:sp>
      <p:sp>
        <p:nvSpPr>
          <p:cNvPr id="7" name="Text 5"/>
          <p:cNvSpPr/>
          <p:nvPr/>
        </p:nvSpPr>
        <p:spPr>
          <a:xfrm>
            <a:off x="685800" y="1755648"/>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PROBLEM STATEMENT</a:t>
            </a:r>
            <a:endParaRPr lang="en-US" sz="1150" dirty="0"/>
          </a:p>
        </p:txBody>
      </p:sp>
      <p:sp>
        <p:nvSpPr>
          <p:cNvPr id="8" name="Text 6"/>
          <p:cNvSpPr/>
          <p:nvPr/>
        </p:nvSpPr>
        <p:spPr>
          <a:xfrm>
            <a:off x="685800" y="2084832"/>
            <a:ext cx="5120640" cy="5943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 sensor at the midpoint xs = L/2 records u = 0.35 at t* = 0.5. Find the wave speed c consistent with this observation.</a:t>
            </a:r>
            <a:endParaRPr lang="en-US" sz="1300" dirty="0"/>
          </a:p>
        </p:txBody>
      </p:sp>
      <p:sp>
        <p:nvSpPr>
          <p:cNvPr id="9" name="Text 7"/>
          <p:cNvSpPr/>
          <p:nvPr/>
        </p:nvSpPr>
        <p:spPr>
          <a:xfrm>
            <a:off x="685800" y="2788920"/>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RESIDUAL FUNCTION (ROOT TO FIND)</a:t>
            </a:r>
            <a:endParaRPr lang="en-US" sz="1150" dirty="0"/>
          </a:p>
        </p:txBody>
      </p:sp>
      <p:pic>
        <p:nvPicPr>
          <p:cNvPr id="10" name="Image 0" descr="/home/claude/proj/figs/eq/residual.png">    </p:cNvPr>
          <p:cNvPicPr>
            <a:picLocks noChangeAspect="1"/>
          </p:cNvPicPr>
          <p:nvPr/>
        </p:nvPicPr>
        <p:blipFill>
          <a:blip r:embed="rId1"/>
          <a:stretch>
            <a:fillRect/>
          </a:stretch>
        </p:blipFill>
        <p:spPr>
          <a:xfrm>
            <a:off x="777240" y="3108960"/>
            <a:ext cx="4206240" cy="764694"/>
          </a:xfrm>
          <a:prstGeom prst="rect">
            <a:avLst/>
          </a:prstGeom>
        </p:spPr>
      </p:pic>
      <p:sp>
        <p:nvSpPr>
          <p:cNvPr id="11" name="Text 8"/>
          <p:cNvSpPr/>
          <p:nvPr/>
        </p:nvSpPr>
        <p:spPr>
          <a:xfrm>
            <a:off x="685800" y="3794760"/>
            <a:ext cx="5120640" cy="10058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uh(L/2, t*; c) is the numerical solution of the HOMOGENEOUS wave equation for a trial speed c — the forced f from Question 3 was built only for c = 1 and cannot match uobs = 0.35.</a:t>
            </a:r>
            <a:endParaRPr lang="en-US" sz="1200" dirty="0"/>
          </a:p>
        </p:txBody>
      </p:sp>
      <p:sp>
        <p:nvSpPr>
          <p:cNvPr id="12" name="Text 9"/>
          <p:cNvSpPr/>
          <p:nvPr/>
        </p:nvSpPr>
        <p:spPr>
          <a:xfrm>
            <a:off x="685800" y="4892040"/>
            <a:ext cx="512064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ANALYTICAL CHECK (a posteriori only)</a:t>
            </a:r>
            <a:endParaRPr lang="en-US" sz="1150" dirty="0"/>
          </a:p>
        </p:txBody>
      </p:sp>
      <p:pic>
        <p:nvPicPr>
          <p:cNvPr id="13" name="Image 1" descr="/home/claude/proj/figs/eq/c_star.png">    </p:cNvPr>
          <p:cNvPicPr>
            <a:picLocks noChangeAspect="1"/>
          </p:cNvPicPr>
          <p:nvPr/>
        </p:nvPicPr>
        <p:blipFill>
          <a:blip r:embed="rId2"/>
          <a:stretch>
            <a:fillRect/>
          </a:stretch>
        </p:blipFill>
        <p:spPr>
          <a:xfrm>
            <a:off x="777240" y="5193792"/>
            <a:ext cx="3840480" cy="588746"/>
          </a:xfrm>
          <a:prstGeom prst="rect">
            <a:avLst/>
          </a:prstGeom>
        </p:spPr>
      </p:pic>
      <p:sp>
        <p:nvSpPr>
          <p:cNvPr id="14" name="Shape 10"/>
          <p:cNvSpPr/>
          <p:nvPr/>
        </p:nvSpPr>
        <p:spPr>
          <a:xfrm>
            <a:off x="6309360" y="1572768"/>
            <a:ext cx="5422392" cy="4617720"/>
          </a:xfrm>
          <a:prstGeom prst="roundRect">
            <a:avLst>
              <a:gd name="adj" fmla="val 1584"/>
            </a:avLst>
          </a:prstGeom>
          <a:solidFill>
            <a:srgbClr val="1B2A4A"/>
          </a:solidFill>
          <a:ln/>
        </p:spPr>
      </p:sp>
      <p:sp>
        <p:nvSpPr>
          <p:cNvPr id="15" name="Text 11"/>
          <p:cNvSpPr/>
          <p:nvPr/>
        </p:nvSpPr>
        <p:spPr>
          <a:xfrm>
            <a:off x="6537960" y="1755648"/>
            <a:ext cx="493776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TWO-PHASE STRATEGY</a:t>
            </a:r>
            <a:endParaRPr lang="en-US" sz="1150" dirty="0"/>
          </a:p>
        </p:txBody>
      </p:sp>
      <p:sp>
        <p:nvSpPr>
          <p:cNvPr id="16" name="Text 12"/>
          <p:cNvSpPr/>
          <p:nvPr/>
        </p:nvSpPr>
        <p:spPr>
          <a:xfrm>
            <a:off x="6537960" y="2103120"/>
            <a:ext cx="4937760" cy="2468880"/>
          </a:xfrm>
          <a:prstGeom prst="rect">
            <a:avLst/>
          </a:prstGeom>
          <a:noFill/>
          <a:ln/>
        </p:spPr>
        <p:txBody>
          <a:bodyPr wrap="square" lIns="0" tIns="0" rIns="0" bIns="0" rtlCol="0" anchor="t"/>
          <a:lstStyle/>
          <a:p>
            <a:pPr indent="0" marL="0">
              <a:buNone/>
            </a:pPr>
            <a:r>
              <a:rPr lang="en-US" sz="1250" b="1" dirty="0">
                <a:solidFill>
                  <a:srgbClr val="D46A00"/>
                </a:solidFill>
                <a:latin typeface="Calibri" pitchFamily="34" charset="0"/>
                <a:ea typeface="Calibri" pitchFamily="34" charset="-122"/>
                <a:cs typeface="Calibri" pitchFamily="34" charset="-120"/>
              </a:rPr>
              <a:t>Phase 1 — Bisection </a:t>
            </a:r>
            <a:endParaRPr lang="en-US" sz="1250" dirty="0"/>
          </a:p>
          <a:p>
            <a:pPr indent="0" marL="0">
              <a:buNone/>
            </a:pPr>
            <a:r>
              <a:rPr lang="en-US" sz="1250" dirty="0">
                <a:solidFill>
                  <a:srgbClr val="E4E9F5"/>
                </a:solidFill>
                <a:latin typeface="Calibri" pitchFamily="34" charset="0"/>
                <a:ea typeface="Calibri" pitchFamily="34" charset="-122"/>
                <a:cs typeface="Calibri" pitchFamily="34" charset="-120"/>
              </a:rPr>
              <a:t>Bracket [0.75, 0.80] found by a coarse scan (sign change verified). Robust, guaranteed, linear convergence.</a:t>
            </a:r>
            <a:endParaRPr lang="en-US" sz="1250" dirty="0"/>
          </a:p>
          <a:p>
            <a:pPr indent="0" marL="0">
              <a:buNone/>
            </a:pPr>
            <a:endParaRPr lang="en-US" sz="1250" dirty="0"/>
          </a:p>
          <a:p>
            <a:pPr indent="0" marL="0">
              <a:buNone/>
            </a:pPr>
            <a:r>
              <a:rPr lang="en-US" sz="1250" b="1" dirty="0">
                <a:solidFill>
                  <a:srgbClr val="D46A00"/>
                </a:solidFill>
                <a:latin typeface="Calibri" pitchFamily="34" charset="0"/>
                <a:ea typeface="Calibri" pitchFamily="34" charset="-122"/>
                <a:cs typeface="Calibri" pitchFamily="34" charset="-120"/>
              </a:rPr>
              <a:t>Phase 2 — Newton's Method </a:t>
            </a:r>
            <a:endParaRPr lang="en-US" sz="1250" dirty="0"/>
          </a:p>
          <a:p>
            <a:pPr indent="0" marL="0">
              <a:buNone/>
            </a:pPr>
            <a:r>
              <a:rPr lang="en-US" sz="1250" dirty="0">
                <a:solidFill>
                  <a:srgbClr val="E4E9F5"/>
                </a:solidFill>
                <a:latin typeface="Calibri" pitchFamily="34" charset="0"/>
                <a:ea typeface="Calibri" pitchFamily="34" charset="-122"/>
                <a:cs typeface="Calibri" pitchFamily="34" charset="-120"/>
              </a:rPr>
              <a:t>Initialized from the bisection result. Derivative approximated by a centered finite difference. Quadratic convergence.</a:t>
            </a:r>
            <a:endParaRPr lang="en-US" sz="1250" dirty="0"/>
          </a:p>
        </p:txBody>
      </p:sp>
      <p:pic>
        <p:nvPicPr>
          <p:cNvPr id="17" name="Image 2" descr="/home/claude/proj/figs/eq/newton_update_w.png">    </p:cNvPr>
          <p:cNvPicPr>
            <a:picLocks noChangeAspect="1"/>
          </p:cNvPicPr>
          <p:nvPr/>
        </p:nvPicPr>
        <p:blipFill>
          <a:blip r:embed="rId3"/>
          <a:stretch>
            <a:fillRect/>
          </a:stretch>
        </p:blipFill>
        <p:spPr>
          <a:xfrm>
            <a:off x="6537960" y="4590288"/>
            <a:ext cx="2148840" cy="803451"/>
          </a:xfrm>
          <a:prstGeom prst="rect">
            <a:avLst/>
          </a:prstGeom>
        </p:spPr>
      </p:pic>
      <p:pic>
        <p:nvPicPr>
          <p:cNvPr id="18" name="Image 3" descr="/home/claude/proj/figs/eq/newton_deriv_w.png">    </p:cNvPr>
          <p:cNvPicPr>
            <a:picLocks noChangeAspect="1"/>
          </p:cNvPicPr>
          <p:nvPr/>
        </p:nvPicPr>
        <p:blipFill>
          <a:blip r:embed="rId4"/>
          <a:stretch>
            <a:fillRect/>
          </a:stretch>
        </p:blipFill>
        <p:spPr>
          <a:xfrm>
            <a:off x="6537960" y="5532120"/>
            <a:ext cx="3931920" cy="5492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Q5 · RESULTS</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Bisection Hands Off to Newton</a:t>
            </a:r>
            <a:endParaRPr lang="en-US" sz="3000" dirty="0"/>
          </a:p>
        </p:txBody>
      </p:sp>
      <p:pic>
        <p:nvPicPr>
          <p:cNvPr id="6" name="Image 0" descr="/home/claude/proj/figs/fig_rootfinding.png">    </p:cNvPr>
          <p:cNvPicPr>
            <a:picLocks noChangeAspect="1"/>
          </p:cNvPicPr>
          <p:nvPr/>
        </p:nvPicPr>
        <p:blipFill>
          <a:blip r:embed="rId1"/>
          <a:stretch>
            <a:fillRect/>
          </a:stretch>
        </p:blipFill>
        <p:spPr>
          <a:xfrm>
            <a:off x="457200" y="1463040"/>
            <a:ext cx="6720840" cy="2714185"/>
          </a:xfrm>
          <a:prstGeom prst="rect">
            <a:avLst/>
          </a:prstGeom>
        </p:spPr>
      </p:pic>
      <p:sp>
        <p:nvSpPr>
          <p:cNvPr id="7" name="Shape 4"/>
          <p:cNvSpPr/>
          <p:nvPr/>
        </p:nvSpPr>
        <p:spPr>
          <a:xfrm>
            <a:off x="7360920" y="1463040"/>
            <a:ext cx="4343400" cy="2788920"/>
          </a:xfrm>
          <a:prstGeom prst="roundRect">
            <a:avLst>
              <a:gd name="adj" fmla="val 2623"/>
            </a:avLst>
          </a:prstGeom>
          <a:solidFill>
            <a:srgbClr val="F3F5F9"/>
          </a:solidFill>
          <a:ln/>
        </p:spPr>
      </p:sp>
      <p:sp>
        <p:nvSpPr>
          <p:cNvPr id="8" name="Text 5"/>
          <p:cNvSpPr/>
          <p:nvPr/>
        </p:nvSpPr>
        <p:spPr>
          <a:xfrm>
            <a:off x="7589520" y="1645920"/>
            <a:ext cx="3931920" cy="274320"/>
          </a:xfrm>
          <a:prstGeom prst="rect">
            <a:avLst/>
          </a:prstGeom>
          <a:noFill/>
          <a:ln/>
        </p:spPr>
        <p:txBody>
          <a:bodyPr wrap="square" lIns="0" tIns="0" rIns="0" bIns="0" rtlCol="0" anchor="ctr"/>
          <a:lstStyle/>
          <a:p>
            <a:pPr indent="0" marL="0">
              <a:buNone/>
            </a:pPr>
            <a:r>
              <a:rPr lang="en-US" sz="1150" b="1" spc="75" kern="0" dirty="0">
                <a:solidFill>
                  <a:srgbClr val="D46A00"/>
                </a:solidFill>
                <a:latin typeface="Calibri" pitchFamily="34" charset="0"/>
                <a:ea typeface="Calibri" pitchFamily="34" charset="-122"/>
                <a:cs typeface="Calibri" pitchFamily="34" charset="-120"/>
              </a:rPr>
              <a:t>RESULT SUMMARY</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589520" y="1965960"/>
          <a:ext cx="3931920" cy="914400"/>
        </p:xfrm>
        <a:graphic>
          <a:graphicData uri="http://schemas.openxmlformats.org/drawingml/2006/table">
            <a:tbl>
              <a:tblPr/>
              <a:tblGrid>
                <a:gridCol w="1234440"/>
                <a:gridCol w="1234440"/>
                <a:gridCol w="1463040"/>
              </a:tblGrid>
              <a:tr h="310896">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Method</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Note</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Bisection</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0.77068</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17 iters, tol 1e-6</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Newton</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0.77068</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2 iters, |F|~2e-13</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Analytical</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0.77236</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reference only</a:t>
                      </a:r>
                      <a:endParaRPr lang="en-US" sz="105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10" name="Text 6"/>
          <p:cNvSpPr/>
          <p:nvPr/>
        </p:nvSpPr>
        <p:spPr>
          <a:xfrm>
            <a:off x="7589520" y="3401568"/>
            <a:ext cx="3931920" cy="7772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Residual gap (1.68×10⁻³) shrinks with grid refinement — it is PDE discretization error, not a root-finding error.</a:t>
            </a:r>
            <a:endParaRPr lang="en-US" sz="1050" dirty="0"/>
          </a:p>
        </p:txBody>
      </p:sp>
      <p:sp>
        <p:nvSpPr>
          <p:cNvPr id="11" name="Shape 7"/>
          <p:cNvSpPr/>
          <p:nvPr/>
        </p:nvSpPr>
        <p:spPr>
          <a:xfrm>
            <a:off x="7360920" y="4434840"/>
            <a:ext cx="4343400" cy="1755648"/>
          </a:xfrm>
          <a:prstGeom prst="roundRect">
            <a:avLst>
              <a:gd name="adj" fmla="val 4167"/>
            </a:avLst>
          </a:prstGeom>
          <a:solidFill>
            <a:srgbClr val="1B2A4A"/>
          </a:solidFill>
          <a:ln/>
        </p:spPr>
      </p:sp>
      <p:sp>
        <p:nvSpPr>
          <p:cNvPr id="12" name="Text 8"/>
          <p:cNvSpPr/>
          <p:nvPr/>
        </p:nvSpPr>
        <p:spPr>
          <a:xfrm>
            <a:off x="7589520" y="4617720"/>
            <a:ext cx="3931920" cy="1463040"/>
          </a:xfrm>
          <a:prstGeom prst="rect">
            <a:avLst/>
          </a:prstGeom>
          <a:noFill/>
          <a:ln/>
        </p:spPr>
        <p:txBody>
          <a:bodyPr wrap="square" lIns="0" tIns="0" rIns="0" bIns="0" rtlCol="0" anchor="t"/>
          <a:lstStyle/>
          <a:p>
            <a:pPr indent="0" marL="0">
              <a:buNone/>
            </a:pPr>
            <a:r>
              <a:rPr lang="en-US" sz="3000" b="1" dirty="0">
                <a:solidFill>
                  <a:srgbClr val="D46A00"/>
                </a:solidFill>
                <a:latin typeface="Cambria" pitchFamily="34" charset="0"/>
                <a:ea typeface="Cambria" pitchFamily="34" charset="-122"/>
                <a:cs typeface="Cambria" pitchFamily="34" charset="-120"/>
              </a:rPr>
              <a:t>17 → 2</a:t>
            </a:r>
            <a:endParaRPr lang="en-US" sz="3000" dirty="0"/>
          </a:p>
          <a:p>
            <a:pPr indent="0" marL="0">
              <a:buNone/>
            </a:pPr>
            <a:r>
              <a:rPr lang="en-US" sz="1250" dirty="0">
                <a:solidFill>
                  <a:srgbClr val="E4E9F5"/>
                </a:solidFill>
                <a:latin typeface="Calibri" pitchFamily="34" charset="0"/>
                <a:ea typeface="Calibri" pitchFamily="34" charset="-122"/>
                <a:cs typeface="Calibri" pitchFamily="34" charset="-120"/>
              </a:rPr>
              <a:t>iterations: bisection to reach 1e-6, then Newton to reach machine precision — the payoff of quadratic convergence.</a:t>
            </a:r>
            <a:endParaRPr lang="en-US" sz="3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9966960" y="402336"/>
            <a:ext cx="1764792" cy="329184"/>
          </a:xfrm>
          <a:prstGeom prst="roundRect">
            <a:avLst>
              <a:gd name="adj" fmla="val 50000"/>
            </a:avLst>
          </a:prstGeom>
          <a:solidFill>
            <a:srgbClr val="D46A00"/>
          </a:solidFill>
          <a:ln/>
        </p:spPr>
      </p:sp>
      <p:sp>
        <p:nvSpPr>
          <p:cNvPr id="3" name="Text 1"/>
          <p:cNvSpPr/>
          <p:nvPr/>
        </p:nvSpPr>
        <p:spPr>
          <a:xfrm>
            <a:off x="9966960" y="402336"/>
            <a:ext cx="176479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Q2 + Q3 · CODE</a:t>
            </a:r>
            <a:endParaRPr lang="en-US" sz="1050" dirty="0"/>
          </a:p>
        </p:txBody>
      </p:sp>
      <p:sp>
        <p:nvSpPr>
          <p:cNvPr id="4" name="Text 2"/>
          <p:cNvSpPr/>
          <p:nvPr/>
        </p:nvSpPr>
        <p:spPr>
          <a:xfrm>
            <a:off x="457200" y="292608"/>
            <a:ext cx="86868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Assembly, LU Factorization &amp; Time-Stepping</a:t>
            </a:r>
            <a:endParaRPr lang="en-US" sz="2200" dirty="0"/>
          </a:p>
        </p:txBody>
      </p:sp>
      <p:sp>
        <p:nvSpPr>
          <p:cNvPr id="5" name="Text 3"/>
          <p:cNvSpPr/>
          <p:nvPr/>
        </p:nvSpPr>
        <p:spPr>
          <a:xfrm>
            <a:off x="457200" y="731520"/>
            <a:ext cx="9601200" cy="274320"/>
          </a:xfrm>
          <a:prstGeom prst="rect">
            <a:avLst/>
          </a:prstGeom>
          <a:noFill/>
          <a:ln/>
        </p:spPr>
        <p:txBody>
          <a:bodyPr wrap="square" lIns="0" tIns="0" rIns="0" bIns="0" rtlCol="0" anchor="ctr"/>
          <a:lstStyle/>
          <a:p>
            <a:pPr indent="0" marL="0">
              <a:buNone/>
            </a:pPr>
            <a:r>
              <a:rPr lang="en-US" sz="1150" i="1" dirty="0">
                <a:solidFill>
                  <a:srgbClr val="AAB8D6"/>
                </a:solidFill>
                <a:latin typeface="Calibri" pitchFamily="34" charset="0"/>
                <a:ea typeface="Calibri" pitchFamily="34" charset="-122"/>
                <a:cs typeface="Calibri" pitchFamily="34" charset="-120"/>
              </a:rPr>
              <a:t>Condensed from the full implementation — tridiagonal matrix, ghost-point start-up, and the O(N) marching loop.</a:t>
            </a:r>
            <a:endParaRPr lang="en-US" sz="1150" dirty="0"/>
          </a:p>
        </p:txBody>
      </p:sp>
      <p:sp>
        <p:nvSpPr>
          <p:cNvPr id="6" name="Shape 4"/>
          <p:cNvSpPr/>
          <p:nvPr/>
        </p:nvSpPr>
        <p:spPr>
          <a:xfrm>
            <a:off x="457200" y="1097280"/>
            <a:ext cx="11274552" cy="5440680"/>
          </a:xfrm>
          <a:prstGeom prst="roundRect">
            <a:avLst>
              <a:gd name="adj" fmla="val 1008"/>
            </a:avLst>
          </a:prstGeom>
          <a:solidFill>
            <a:srgbClr val="0D1626"/>
          </a:solidFill>
          <a:ln w="12700">
            <a:solidFill>
              <a:srgbClr val="2A3B5C"/>
            </a:solidFill>
            <a:prstDash val="solid"/>
          </a:ln>
        </p:spPr>
      </p:sp>
      <p:sp>
        <p:nvSpPr>
          <p:cNvPr id="7" name="Shape 5"/>
          <p:cNvSpPr/>
          <p:nvPr/>
        </p:nvSpPr>
        <p:spPr>
          <a:xfrm>
            <a:off x="658368" y="1261872"/>
            <a:ext cx="164592" cy="164592"/>
          </a:xfrm>
          <a:prstGeom prst="ellipse">
            <a:avLst/>
          </a:prstGeom>
          <a:solidFill>
            <a:srgbClr val="FF5F56"/>
          </a:solidFill>
          <a:ln/>
        </p:spPr>
      </p:sp>
      <p:sp>
        <p:nvSpPr>
          <p:cNvPr id="8" name="Shape 6"/>
          <p:cNvSpPr/>
          <p:nvPr/>
        </p:nvSpPr>
        <p:spPr>
          <a:xfrm>
            <a:off x="868680" y="1261872"/>
            <a:ext cx="164592" cy="164592"/>
          </a:xfrm>
          <a:prstGeom prst="ellipse">
            <a:avLst/>
          </a:prstGeom>
          <a:solidFill>
            <a:srgbClr val="FFBD2E"/>
          </a:solidFill>
          <a:ln/>
        </p:spPr>
      </p:sp>
      <p:sp>
        <p:nvSpPr>
          <p:cNvPr id="9" name="Shape 7"/>
          <p:cNvSpPr/>
          <p:nvPr/>
        </p:nvSpPr>
        <p:spPr>
          <a:xfrm>
            <a:off x="1078992" y="1261872"/>
            <a:ext cx="164592" cy="164592"/>
          </a:xfrm>
          <a:prstGeom prst="ellipse">
            <a:avLst/>
          </a:prstGeom>
          <a:solidFill>
            <a:srgbClr val="27C93F"/>
          </a:solidFill>
          <a:ln/>
        </p:spPr>
      </p:sp>
      <p:sp>
        <p:nvSpPr>
          <p:cNvPr id="10" name="Text 8"/>
          <p:cNvSpPr/>
          <p:nvPr/>
        </p:nvSpPr>
        <p:spPr>
          <a:xfrm>
            <a:off x="777240" y="1572768"/>
            <a:ext cx="10698480" cy="4828032"/>
          </a:xfrm>
          <a:prstGeom prst="rect">
            <a:avLst/>
          </a:prstGeom>
          <a:noFill/>
          <a:ln/>
        </p:spPr>
        <p:txBody>
          <a:bodyPr wrap="square" lIns="0" tIns="0" rIns="0" bIns="0" rtlCol="0" anchor="t"/>
          <a:lstStyle/>
          <a:p>
            <a:pPr indent="0" marL="0">
              <a:lnSpc>
                <a:spcPct val="100000"/>
              </a:lnSpc>
              <a:buNone/>
            </a:pPr>
            <a:r>
              <a:rPr lang="en-US" sz="1000" dirty="0">
                <a:solidFill>
                  <a:srgbClr val="6FA8A2"/>
                </a:solidFill>
                <a:latin typeface="Courier New" pitchFamily="34" charset="0"/>
                <a:ea typeface="Courier New" pitchFamily="34" charset="-122"/>
                <a:cs typeface="Courier New" pitchFamily="34" charset="-120"/>
              </a:rPr>
              <a:t># ---- Q2/Q3: assemble tridiagonal A and factorize ONCE ----</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r = (c * dt / dx) ** 2</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diag_main = np.full(N - 1, 1 + 2 * r)</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diag_off  = np.full(N - 2, -r)</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A = np.diag(diag_main) + np.diag(diag_off, 1) + np.diag(diag_off, -1)</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lu, piv = lu_factor(A)              # O(N), done exactly once</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6FA8A2"/>
                </a:solidFill>
                <a:latin typeface="Courier New" pitchFamily="34" charset="0"/>
                <a:ea typeface="Courier New" pitchFamily="34" charset="-122"/>
                <a:cs typeface="Courier New" pitchFamily="34" charset="-120"/>
              </a:rPr>
              <a:t># ---- Q2: ghost-point first step  A U1 = U0 + dt*V0 + (dt^2/2) F0 ----</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U0 = np.sin(np.pi * xi)             # initial shape  u(x,0) = sin(pi x)</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V0 = np.zeros(N - 1)                # initial velocity u_t(x,0) = 0</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F0 = source(xi, 0.0)</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U1 = lu_solve((lu, piv), U0 + dt*V0 + 0.5*dt**2*F0)</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6FA8A2"/>
                </a:solidFill>
                <a:latin typeface="Courier New" pitchFamily="34" charset="0"/>
                <a:ea typeface="Courier New" pitchFamily="34" charset="-122"/>
                <a:cs typeface="Courier New" pitchFamily="34" charset="-120"/>
              </a:rPr>
              <a:t># ---- Q3: time-marching loop, reusing the stored LU factors ----</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U_prev, U_curr = U0.copy(), U1.copy()</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snapshots = [pad(U0), pad(U1)]</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for n in range(1, Nt - 1):</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Fn  = source(xi, t[n])</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rhs = 2 * U_curr - U_prev + dt**2 * Fn      # O(N) build</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U_next = lu_solve((lu, piv), rhs)           # O(N) solve</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U_prev, U_curr = U_curr, U_next</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snapshots.append(pad(U_curr))</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6FA8A2"/>
                </a:solidFill>
                <a:latin typeface="Courier New" pitchFamily="34" charset="0"/>
                <a:ea typeface="Courier New" pitchFamily="34" charset="-122"/>
                <a:cs typeface="Courier New" pitchFamily="34" charset="-120"/>
              </a:rPr>
              <a:t># ---- Q3.5: error norms at final time T ----</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err   = np.abs(u_exact(x, T) - pad(U_curr))</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E_inf = np.max(err)</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E_2   = np.sqrt(dx * np.sum(err**2))</a:t>
            </a:r>
            <a:endParaRPr lang="en-US" sz="1000" dirty="0"/>
          </a:p>
        </p:txBody>
      </p:sp>
      <p:sp>
        <p:nvSpPr>
          <p:cNvPr id="11" name="Text 9"/>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Full implementation (condensed)</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9966960" y="402336"/>
            <a:ext cx="1764792" cy="329184"/>
          </a:xfrm>
          <a:prstGeom prst="roundRect">
            <a:avLst>
              <a:gd name="adj" fmla="val 50000"/>
            </a:avLst>
          </a:prstGeom>
          <a:solidFill>
            <a:srgbClr val="D46A00"/>
          </a:solidFill>
          <a:ln/>
        </p:spPr>
      </p:sp>
      <p:sp>
        <p:nvSpPr>
          <p:cNvPr id="3" name="Text 1"/>
          <p:cNvSpPr/>
          <p:nvPr/>
        </p:nvSpPr>
        <p:spPr>
          <a:xfrm>
            <a:off x="9966960" y="402336"/>
            <a:ext cx="176479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Q4 + Q5 · CODE</a:t>
            </a:r>
            <a:endParaRPr lang="en-US" sz="1050" dirty="0"/>
          </a:p>
        </p:txBody>
      </p:sp>
      <p:sp>
        <p:nvSpPr>
          <p:cNvPr id="4" name="Text 2"/>
          <p:cNvSpPr/>
          <p:nvPr/>
        </p:nvSpPr>
        <p:spPr>
          <a:xfrm>
            <a:off x="457200" y="292608"/>
            <a:ext cx="86868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Energy Quadrature &amp; the Inverse Solver</a:t>
            </a:r>
            <a:endParaRPr lang="en-US" sz="2200" dirty="0"/>
          </a:p>
        </p:txBody>
      </p:sp>
      <p:sp>
        <p:nvSpPr>
          <p:cNvPr id="5" name="Text 3"/>
          <p:cNvSpPr/>
          <p:nvPr/>
        </p:nvSpPr>
        <p:spPr>
          <a:xfrm>
            <a:off x="457200" y="731520"/>
            <a:ext cx="9601200" cy="274320"/>
          </a:xfrm>
          <a:prstGeom prst="rect">
            <a:avLst/>
          </a:prstGeom>
          <a:noFill/>
          <a:ln/>
        </p:spPr>
        <p:txBody>
          <a:bodyPr wrap="square" lIns="0" tIns="0" rIns="0" bIns="0" rtlCol="0" anchor="ctr"/>
          <a:lstStyle/>
          <a:p>
            <a:pPr indent="0" marL="0">
              <a:buNone/>
            </a:pPr>
            <a:r>
              <a:rPr lang="en-US" sz="1150" i="1" dirty="0">
                <a:solidFill>
                  <a:srgbClr val="AAB8D6"/>
                </a:solidFill>
                <a:latin typeface="Calibri" pitchFamily="34" charset="0"/>
                <a:ea typeface="Calibri" pitchFamily="34" charset="-122"/>
                <a:cs typeface="Calibri" pitchFamily="34" charset="-120"/>
              </a:rPr>
              <a:t>Condensed from the full implementation — Simpson energy integration, then bisection handing off to Newton.</a:t>
            </a:r>
            <a:endParaRPr lang="en-US" sz="1150" dirty="0"/>
          </a:p>
        </p:txBody>
      </p:sp>
      <p:sp>
        <p:nvSpPr>
          <p:cNvPr id="6" name="Shape 4"/>
          <p:cNvSpPr/>
          <p:nvPr/>
        </p:nvSpPr>
        <p:spPr>
          <a:xfrm>
            <a:off x="457200" y="1097280"/>
            <a:ext cx="11274552" cy="5440680"/>
          </a:xfrm>
          <a:prstGeom prst="roundRect">
            <a:avLst>
              <a:gd name="adj" fmla="val 1008"/>
            </a:avLst>
          </a:prstGeom>
          <a:solidFill>
            <a:srgbClr val="0D1626"/>
          </a:solidFill>
          <a:ln w="12700">
            <a:solidFill>
              <a:srgbClr val="2A3B5C"/>
            </a:solidFill>
            <a:prstDash val="solid"/>
          </a:ln>
        </p:spPr>
      </p:sp>
      <p:sp>
        <p:nvSpPr>
          <p:cNvPr id="7" name="Shape 5"/>
          <p:cNvSpPr/>
          <p:nvPr/>
        </p:nvSpPr>
        <p:spPr>
          <a:xfrm>
            <a:off x="658368" y="1261872"/>
            <a:ext cx="164592" cy="164592"/>
          </a:xfrm>
          <a:prstGeom prst="ellipse">
            <a:avLst/>
          </a:prstGeom>
          <a:solidFill>
            <a:srgbClr val="FF5F56"/>
          </a:solidFill>
          <a:ln/>
        </p:spPr>
      </p:sp>
      <p:sp>
        <p:nvSpPr>
          <p:cNvPr id="8" name="Shape 6"/>
          <p:cNvSpPr/>
          <p:nvPr/>
        </p:nvSpPr>
        <p:spPr>
          <a:xfrm>
            <a:off x="868680" y="1261872"/>
            <a:ext cx="164592" cy="164592"/>
          </a:xfrm>
          <a:prstGeom prst="ellipse">
            <a:avLst/>
          </a:prstGeom>
          <a:solidFill>
            <a:srgbClr val="FFBD2E"/>
          </a:solidFill>
          <a:ln/>
        </p:spPr>
      </p:sp>
      <p:sp>
        <p:nvSpPr>
          <p:cNvPr id="9" name="Shape 7"/>
          <p:cNvSpPr/>
          <p:nvPr/>
        </p:nvSpPr>
        <p:spPr>
          <a:xfrm>
            <a:off x="1078992" y="1261872"/>
            <a:ext cx="164592" cy="164592"/>
          </a:xfrm>
          <a:prstGeom prst="ellipse">
            <a:avLst/>
          </a:prstGeom>
          <a:solidFill>
            <a:srgbClr val="27C93F"/>
          </a:solidFill>
          <a:ln/>
        </p:spPr>
      </p:sp>
      <p:sp>
        <p:nvSpPr>
          <p:cNvPr id="10" name="Text 8"/>
          <p:cNvSpPr/>
          <p:nvPr/>
        </p:nvSpPr>
        <p:spPr>
          <a:xfrm>
            <a:off x="777240" y="1572768"/>
            <a:ext cx="10698480" cy="4828032"/>
          </a:xfrm>
          <a:prstGeom prst="rect">
            <a:avLst/>
          </a:prstGeom>
          <a:noFill/>
          <a:ln/>
        </p:spPr>
        <p:txBody>
          <a:bodyPr wrap="square" lIns="0" tIns="0" rIns="0" bIns="0" rtlCol="0" anchor="t"/>
          <a:lstStyle/>
          <a:p>
            <a:pPr indent="0" marL="0">
              <a:lnSpc>
                <a:spcPct val="100000"/>
              </a:lnSpc>
              <a:buNone/>
            </a:pPr>
            <a:r>
              <a:rPr lang="en-US" sz="1000" dirty="0">
                <a:solidFill>
                  <a:srgbClr val="6FA8A2"/>
                </a:solidFill>
                <a:latin typeface="Courier New" pitchFamily="34" charset="0"/>
                <a:ea typeface="Courier New" pitchFamily="34" charset="-122"/>
                <a:cs typeface="Courier New" pitchFamily="34" charset="-120"/>
              </a:rPr>
              <a:t># ---- Q4: energy via centered derivatives + Composite Simpson ----</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def compute_energy(snapshots, dx, dt, c):</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w = np.ones(N + 1); w[1:-1:2] = 4; w[2:-2:2] = 2   # Simpson weights</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E = np.zeros(len(snapshots))</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    for n, u_n in enumerate(snapshots):</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        if n == 0:        ut = V0_full</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elif n == len(snapshots)-1: ut = (u_n - snapshots[n-1]) / dt</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        else:             ut = (snapshots[n+1] - snapshots[n-1]) / (2*dt)</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ux = np.gradient(u_n, dx)                       # centered in space</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g  = ut**2 + c**2 * ux**2</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E[n] = 0.5 * (dx / 3) * np.dot(w, g)            # O(dx^4) quadrature</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    return E</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6FA8A2"/>
                </a:solidFill>
                <a:latin typeface="Courier New" pitchFamily="34" charset="0"/>
                <a:ea typeface="Courier New" pitchFamily="34" charset="-122"/>
                <a:cs typeface="Courier New" pitchFamily="34" charset="-120"/>
              </a:rPr>
              <a:t># ---- Q5: residual F(c) from the HOMOGENEOUS forward solver ----</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def F(c_trial):</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u_mid = solve_wave_homogeneous(c_trial)   # u(L/2, t*; c)</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    return u_mid - u_obs                      # u_obs = 0.35</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6FA8A2"/>
                </a:solidFill>
                <a:latin typeface="Courier New" pitchFamily="34" charset="0"/>
                <a:ea typeface="Courier New" pitchFamily="34" charset="-122"/>
                <a:cs typeface="Courier New" pitchFamily="34" charset="-120"/>
              </a:rPr>
              <a:t># ---- Q5.1: Bisection (bracket [0.75, 0.80], tol 1e-6) ----</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a, b = 0.7552, 0.8310</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while (b - a) / 2 &gt; 1e-6:</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m = 0.5 * (a + b)</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a, b = (a, m) if F(a) * F(m) &lt; 0 else (m, b)</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c_bisect = 0.5 * (a + b)</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a:t>
            </a:r>
            <a:endParaRPr lang="en-US" sz="1000" dirty="0"/>
          </a:p>
          <a:p>
            <a:pPr indent="0" marL="0">
              <a:lnSpc>
                <a:spcPct val="100000"/>
              </a:lnSpc>
              <a:buNone/>
            </a:pPr>
            <a:r>
              <a:rPr lang="en-US" sz="1000" dirty="0">
                <a:solidFill>
                  <a:srgbClr val="6FA8A2"/>
                </a:solidFill>
                <a:latin typeface="Courier New" pitchFamily="34" charset="0"/>
                <a:ea typeface="Courier New" pitchFamily="34" charset="-122"/>
                <a:cs typeface="Courier New" pitchFamily="34" charset="-120"/>
              </a:rPr>
              <a:t># ---- Q5.2: Newton's method, centered finite-difference derivative ----</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c_k, h = c_bisect, 1e-4</a:t>
            </a:r>
            <a:endParaRPr lang="en-US" sz="1000" dirty="0"/>
          </a:p>
          <a:p>
            <a:pPr indent="0" marL="0">
              <a:lnSpc>
                <a:spcPct val="100000"/>
              </a:lnSpc>
              <a:buNone/>
            </a:pPr>
            <a:r>
              <a:rPr lang="en-US" sz="1000" dirty="0">
                <a:solidFill>
                  <a:srgbClr val="F0A868"/>
                </a:solidFill>
                <a:latin typeface="Courier New" pitchFamily="34" charset="0"/>
                <a:ea typeface="Courier New" pitchFamily="34" charset="-122"/>
                <a:cs typeface="Courier New" pitchFamily="34" charset="-120"/>
              </a:rPr>
              <a:t>for _ in range(20):</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dF = (F(c_k + h) - F(c_k - h)) / (2 * h)</a:t>
            </a:r>
            <a:endParaRPr lang="en-US" sz="1000" dirty="0"/>
          </a:p>
          <a:p>
            <a:pPr indent="0" marL="0">
              <a:lnSpc>
                <a:spcPct val="100000"/>
              </a:lnSpc>
              <a:buNone/>
            </a:pPr>
            <a:r>
              <a:rPr lang="en-US" sz="1000" dirty="0">
                <a:solidFill>
                  <a:srgbClr val="D7DEEE"/>
                </a:solidFill>
                <a:latin typeface="Courier New" pitchFamily="34" charset="0"/>
                <a:ea typeface="Courier New" pitchFamily="34" charset="-122"/>
                <a:cs typeface="Courier New" pitchFamily="34" charset="-120"/>
              </a:rPr>
              <a:t>    c_k = c_k - F(c_k) / dF                   # quadratic convergence</a:t>
            </a:r>
            <a:endParaRPr lang="en-US" sz="1000" dirty="0"/>
          </a:p>
        </p:txBody>
      </p:sp>
      <p:sp>
        <p:nvSpPr>
          <p:cNvPr id="11" name="Text 9"/>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Full implementation (condensed)</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600200" cy="329184"/>
          </a:xfrm>
          <a:prstGeom prst="roundRect">
            <a:avLst>
              <a:gd name="adj" fmla="val 50000"/>
            </a:avLst>
          </a:prstGeom>
          <a:solidFill>
            <a:srgbClr val="1B2A4A"/>
          </a:solidFill>
          <a:ln/>
        </p:spPr>
      </p:sp>
      <p:sp>
        <p:nvSpPr>
          <p:cNvPr id="3" name="Text 1"/>
          <p:cNvSpPr/>
          <p:nvPr/>
        </p:nvSpPr>
        <p:spPr>
          <a:xfrm>
            <a:off x="457200" y="384048"/>
            <a:ext cx="1600200" cy="329184"/>
          </a:xfrm>
          <a:prstGeom prst="rect">
            <a:avLst/>
          </a:prstGeom>
          <a:noFill/>
          <a:ln/>
        </p:spPr>
        <p:txBody>
          <a:bodyPr wrap="square" lIns="0" tIns="0" rIns="0" bIns="0" rtlCol="0" anchor="ctr"/>
          <a:lstStyle/>
          <a:p>
            <a:pPr algn="ctr" indent="0" marL="0">
              <a:buNone/>
            </a:pPr>
            <a:r>
              <a:rPr lang="en-US" sz="1150" b="1" spc="50" kern="0" dirty="0">
                <a:solidFill>
                  <a:srgbClr val="FFFFFF"/>
                </a:solidFill>
                <a:latin typeface="Calibri" pitchFamily="34" charset="0"/>
                <a:ea typeface="Calibri" pitchFamily="34" charset="-122"/>
                <a:cs typeface="Calibri" pitchFamily="34" charset="-120"/>
              </a:rPr>
              <a:t>SYNTHESIS</a:t>
            </a:r>
            <a:endParaRPr lang="en-US" sz="1150" dirty="0"/>
          </a:p>
        </p:txBody>
      </p:sp>
      <p:sp>
        <p:nvSpPr>
          <p:cNvPr id="4"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AMATH102 · Project 9 · Vibrations in a Stretched String</a:t>
            </a:r>
            <a:endParaRPr lang="en-US" sz="900" dirty="0"/>
          </a:p>
        </p:txBody>
      </p:sp>
      <p:sp>
        <p:nvSpPr>
          <p:cNvPr id="5" name="Text 3"/>
          <p:cNvSpPr/>
          <p:nvPr/>
        </p:nvSpPr>
        <p:spPr>
          <a:xfrm>
            <a:off x="457200" y="804672"/>
            <a:ext cx="105156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Conclusion — What We Built</a:t>
            </a:r>
            <a:endParaRPr lang="en-US" sz="3000" dirty="0"/>
          </a:p>
        </p:txBody>
      </p:sp>
      <p:sp>
        <p:nvSpPr>
          <p:cNvPr id="6" name="Shape 4"/>
          <p:cNvSpPr/>
          <p:nvPr/>
        </p:nvSpPr>
        <p:spPr>
          <a:xfrm>
            <a:off x="457200" y="1600200"/>
            <a:ext cx="2176272" cy="4114800"/>
          </a:xfrm>
          <a:prstGeom prst="roundRect">
            <a:avLst>
              <a:gd name="adj" fmla="val 3361"/>
            </a:avLst>
          </a:prstGeom>
          <a:solidFill>
            <a:srgbClr val="F3F5F9"/>
          </a:solidFill>
          <a:ln/>
        </p:spPr>
      </p:sp>
      <p:sp>
        <p:nvSpPr>
          <p:cNvPr id="7" name="Shape 5"/>
          <p:cNvSpPr/>
          <p:nvPr/>
        </p:nvSpPr>
        <p:spPr>
          <a:xfrm>
            <a:off x="1316736" y="1828800"/>
            <a:ext cx="457200" cy="457200"/>
          </a:xfrm>
          <a:prstGeom prst="ellipse">
            <a:avLst/>
          </a:prstGeom>
          <a:solidFill>
            <a:srgbClr val="1B2A4A"/>
          </a:solidFill>
          <a:ln/>
        </p:spPr>
      </p:sp>
      <p:pic>
        <p:nvPicPr>
          <p:cNvPr id="8" name="Image 0" descr="/home/claude/proj/figs/icons/chip.png">    </p:cNvPr>
          <p:cNvPicPr>
            <a:picLocks noChangeAspect="1"/>
          </p:cNvPicPr>
          <p:nvPr/>
        </p:nvPicPr>
        <p:blipFill>
          <a:blip r:embed="rId1"/>
          <a:stretch>
            <a:fillRect/>
          </a:stretch>
        </p:blipFill>
        <p:spPr>
          <a:xfrm>
            <a:off x="1376172" y="1888236"/>
            <a:ext cx="338328" cy="338328"/>
          </a:xfrm>
          <a:prstGeom prst="rect">
            <a:avLst/>
          </a:prstGeom>
        </p:spPr>
      </p:pic>
      <p:sp>
        <p:nvSpPr>
          <p:cNvPr id="9" name="Text 6"/>
          <p:cNvSpPr/>
          <p:nvPr/>
        </p:nvSpPr>
        <p:spPr>
          <a:xfrm>
            <a:off x="585216" y="2423160"/>
            <a:ext cx="1920240" cy="594360"/>
          </a:xfrm>
          <a:prstGeom prst="rect">
            <a:avLst/>
          </a:prstGeom>
          <a:noFill/>
          <a:ln/>
        </p:spPr>
        <p:txBody>
          <a:bodyPr wrap="square" lIns="0" tIns="0" rIns="0" bIns="0" rtlCol="0" anchor="t"/>
          <a:lstStyle/>
          <a:p>
            <a:pPr algn="ctr" indent="0" marL="0">
              <a:buNone/>
            </a:pPr>
            <a:r>
              <a:rPr lang="en-US" sz="1250" b="1" dirty="0">
                <a:solidFill>
                  <a:srgbClr val="1B2A4A"/>
                </a:solidFill>
                <a:latin typeface="Cambria" pitchFamily="34" charset="0"/>
                <a:ea typeface="Cambria" pitchFamily="34" charset="-122"/>
                <a:cs typeface="Cambria" pitchFamily="34" charset="-120"/>
              </a:rPr>
              <a:t>Discretization &amp; Stability</a:t>
            </a:r>
            <a:endParaRPr lang="en-US" sz="1250" dirty="0"/>
          </a:p>
        </p:txBody>
      </p:sp>
      <p:sp>
        <p:nvSpPr>
          <p:cNvPr id="10" name="Text 7"/>
          <p:cNvSpPr/>
          <p:nvPr/>
        </p:nvSpPr>
        <p:spPr>
          <a:xfrm>
            <a:off x="621792" y="3108960"/>
            <a:ext cx="1847088" cy="242316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Second-order centered scheme, implicit in space — O(Δt² + Δx²) truncation error.</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No CFL restriction: Δt is free, chosen by accuracy alone.</a:t>
            </a:r>
            <a:endParaRPr lang="en-US" sz="1000" dirty="0"/>
          </a:p>
        </p:txBody>
      </p:sp>
      <p:sp>
        <p:nvSpPr>
          <p:cNvPr id="11" name="Shape 8"/>
          <p:cNvSpPr/>
          <p:nvPr/>
        </p:nvSpPr>
        <p:spPr>
          <a:xfrm>
            <a:off x="2706624" y="1600200"/>
            <a:ext cx="2176272" cy="4114800"/>
          </a:xfrm>
          <a:prstGeom prst="roundRect">
            <a:avLst>
              <a:gd name="adj" fmla="val 3361"/>
            </a:avLst>
          </a:prstGeom>
          <a:solidFill>
            <a:srgbClr val="ECEFF5"/>
          </a:solidFill>
          <a:ln/>
        </p:spPr>
      </p:sp>
      <p:sp>
        <p:nvSpPr>
          <p:cNvPr id="12" name="Shape 9"/>
          <p:cNvSpPr/>
          <p:nvPr/>
        </p:nvSpPr>
        <p:spPr>
          <a:xfrm>
            <a:off x="3566160" y="1828800"/>
            <a:ext cx="457200" cy="457200"/>
          </a:xfrm>
          <a:prstGeom prst="ellipse">
            <a:avLst/>
          </a:prstGeom>
          <a:solidFill>
            <a:srgbClr val="1B2A4A"/>
          </a:solidFill>
          <a:ln/>
        </p:spPr>
      </p:sp>
      <p:pic>
        <p:nvPicPr>
          <p:cNvPr id="13" name="Image 1" descr="/home/claude/proj/figs/icons/grid.png">    </p:cNvPr>
          <p:cNvPicPr>
            <a:picLocks noChangeAspect="1"/>
          </p:cNvPicPr>
          <p:nvPr/>
        </p:nvPicPr>
        <p:blipFill>
          <a:blip r:embed="rId2"/>
          <a:stretch>
            <a:fillRect/>
          </a:stretch>
        </p:blipFill>
        <p:spPr>
          <a:xfrm>
            <a:off x="3625596" y="1888236"/>
            <a:ext cx="338328" cy="338328"/>
          </a:xfrm>
          <a:prstGeom prst="rect">
            <a:avLst/>
          </a:prstGeom>
        </p:spPr>
      </p:pic>
      <p:sp>
        <p:nvSpPr>
          <p:cNvPr id="14" name="Text 10"/>
          <p:cNvSpPr/>
          <p:nvPr/>
        </p:nvSpPr>
        <p:spPr>
          <a:xfrm>
            <a:off x="2834640" y="2423160"/>
            <a:ext cx="1920240" cy="594360"/>
          </a:xfrm>
          <a:prstGeom prst="rect">
            <a:avLst/>
          </a:prstGeom>
          <a:noFill/>
          <a:ln/>
        </p:spPr>
        <p:txBody>
          <a:bodyPr wrap="square" lIns="0" tIns="0" rIns="0" bIns="0" rtlCol="0" anchor="t"/>
          <a:lstStyle/>
          <a:p>
            <a:pPr algn="ctr" indent="0" marL="0">
              <a:buNone/>
            </a:pPr>
            <a:r>
              <a:rPr lang="en-US" sz="1250" b="1" dirty="0">
                <a:solidFill>
                  <a:srgbClr val="1B2A4A"/>
                </a:solidFill>
                <a:latin typeface="Cambria" pitchFamily="34" charset="0"/>
                <a:ea typeface="Cambria" pitchFamily="34" charset="-122"/>
                <a:cs typeface="Cambria" pitchFamily="34" charset="-120"/>
              </a:rPr>
              <a:t>Efficient Linear Algebra</a:t>
            </a:r>
            <a:endParaRPr lang="en-US" sz="1250" dirty="0"/>
          </a:p>
        </p:txBody>
      </p:sp>
      <p:sp>
        <p:nvSpPr>
          <p:cNvPr id="15" name="Text 11"/>
          <p:cNvSpPr/>
          <p:nvPr/>
        </p:nvSpPr>
        <p:spPr>
          <a:xfrm>
            <a:off x="2871216" y="3108960"/>
            <a:ext cx="1847088" cy="242316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Symmetric positive-definite tridiagonal system.</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One O(N) LU factorization reused at every time step — O(Nt N) total.</a:t>
            </a:r>
            <a:endParaRPr lang="en-US" sz="1000" dirty="0"/>
          </a:p>
        </p:txBody>
      </p:sp>
      <p:sp>
        <p:nvSpPr>
          <p:cNvPr id="16" name="Shape 12"/>
          <p:cNvSpPr/>
          <p:nvPr/>
        </p:nvSpPr>
        <p:spPr>
          <a:xfrm>
            <a:off x="4956048" y="1600200"/>
            <a:ext cx="2176272" cy="4114800"/>
          </a:xfrm>
          <a:prstGeom prst="roundRect">
            <a:avLst>
              <a:gd name="adj" fmla="val 3361"/>
            </a:avLst>
          </a:prstGeom>
          <a:solidFill>
            <a:srgbClr val="F3F5F9"/>
          </a:solidFill>
          <a:ln/>
        </p:spPr>
      </p:sp>
      <p:sp>
        <p:nvSpPr>
          <p:cNvPr id="17" name="Shape 13"/>
          <p:cNvSpPr/>
          <p:nvPr/>
        </p:nvSpPr>
        <p:spPr>
          <a:xfrm>
            <a:off x="5815584" y="1828800"/>
            <a:ext cx="457200" cy="457200"/>
          </a:xfrm>
          <a:prstGeom prst="ellipse">
            <a:avLst/>
          </a:prstGeom>
          <a:solidFill>
            <a:srgbClr val="1B2A4A"/>
          </a:solidFill>
          <a:ln/>
        </p:spPr>
      </p:sp>
      <p:pic>
        <p:nvPicPr>
          <p:cNvPr id="18" name="Image 2" descr="/home/claude/proj/figs/icons/chart.png">    </p:cNvPr>
          <p:cNvPicPr>
            <a:picLocks noChangeAspect="1"/>
          </p:cNvPicPr>
          <p:nvPr/>
        </p:nvPicPr>
        <p:blipFill>
          <a:blip r:embed="rId3"/>
          <a:stretch>
            <a:fillRect/>
          </a:stretch>
        </p:blipFill>
        <p:spPr>
          <a:xfrm>
            <a:off x="5875020" y="1888236"/>
            <a:ext cx="338328" cy="338328"/>
          </a:xfrm>
          <a:prstGeom prst="rect">
            <a:avLst/>
          </a:prstGeom>
        </p:spPr>
      </p:pic>
      <p:sp>
        <p:nvSpPr>
          <p:cNvPr id="19" name="Text 14"/>
          <p:cNvSpPr/>
          <p:nvPr/>
        </p:nvSpPr>
        <p:spPr>
          <a:xfrm>
            <a:off x="5084064" y="2423160"/>
            <a:ext cx="1920240" cy="594360"/>
          </a:xfrm>
          <a:prstGeom prst="rect">
            <a:avLst/>
          </a:prstGeom>
          <a:noFill/>
          <a:ln/>
        </p:spPr>
        <p:txBody>
          <a:bodyPr wrap="square" lIns="0" tIns="0" rIns="0" bIns="0" rtlCol="0" anchor="t"/>
          <a:lstStyle/>
          <a:p>
            <a:pPr algn="ctr" indent="0" marL="0">
              <a:buNone/>
            </a:pPr>
            <a:r>
              <a:rPr lang="en-US" sz="1250" b="1" dirty="0">
                <a:solidFill>
                  <a:srgbClr val="1B2A4A"/>
                </a:solidFill>
                <a:latin typeface="Cambria" pitchFamily="34" charset="0"/>
                <a:ea typeface="Cambria" pitchFamily="34" charset="-122"/>
                <a:cs typeface="Cambria" pitchFamily="34" charset="-120"/>
              </a:rPr>
              <a:t>Validated Simulation</a:t>
            </a:r>
            <a:endParaRPr lang="en-US" sz="1250" dirty="0"/>
          </a:p>
        </p:txBody>
      </p:sp>
      <p:sp>
        <p:nvSpPr>
          <p:cNvPr id="20" name="Text 15"/>
          <p:cNvSpPr/>
          <p:nvPr/>
        </p:nvSpPr>
        <p:spPr>
          <a:xfrm>
            <a:off x="5120640" y="3108960"/>
            <a:ext cx="1847088" cy="242316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Numerical solution matches an exact test case to ~10⁻⁴.</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Log-log study confirms the predicted second order, 2.68 → 2.97.</a:t>
            </a:r>
            <a:endParaRPr lang="en-US" sz="1000" dirty="0"/>
          </a:p>
        </p:txBody>
      </p:sp>
      <p:sp>
        <p:nvSpPr>
          <p:cNvPr id="21" name="Shape 16"/>
          <p:cNvSpPr/>
          <p:nvPr/>
        </p:nvSpPr>
        <p:spPr>
          <a:xfrm>
            <a:off x="7205472" y="1600200"/>
            <a:ext cx="2176272" cy="4114800"/>
          </a:xfrm>
          <a:prstGeom prst="roundRect">
            <a:avLst>
              <a:gd name="adj" fmla="val 3361"/>
            </a:avLst>
          </a:prstGeom>
          <a:solidFill>
            <a:srgbClr val="ECEFF5"/>
          </a:solidFill>
          <a:ln/>
        </p:spPr>
      </p:sp>
      <p:sp>
        <p:nvSpPr>
          <p:cNvPr id="22" name="Shape 17"/>
          <p:cNvSpPr/>
          <p:nvPr/>
        </p:nvSpPr>
        <p:spPr>
          <a:xfrm>
            <a:off x="8065008" y="1828800"/>
            <a:ext cx="457200" cy="457200"/>
          </a:xfrm>
          <a:prstGeom prst="ellipse">
            <a:avLst/>
          </a:prstGeom>
          <a:solidFill>
            <a:srgbClr val="1B2A4A"/>
          </a:solidFill>
          <a:ln/>
        </p:spPr>
      </p:sp>
      <p:pic>
        <p:nvPicPr>
          <p:cNvPr id="23" name="Image 3" descr="/home/claude/proj/figs/icons/bolt.png">    </p:cNvPr>
          <p:cNvPicPr>
            <a:picLocks noChangeAspect="1"/>
          </p:cNvPicPr>
          <p:nvPr/>
        </p:nvPicPr>
        <p:blipFill>
          <a:blip r:embed="rId4"/>
          <a:stretch>
            <a:fillRect/>
          </a:stretch>
        </p:blipFill>
        <p:spPr>
          <a:xfrm>
            <a:off x="8124444" y="1888236"/>
            <a:ext cx="338328" cy="338328"/>
          </a:xfrm>
          <a:prstGeom prst="rect">
            <a:avLst/>
          </a:prstGeom>
        </p:spPr>
      </p:pic>
      <p:sp>
        <p:nvSpPr>
          <p:cNvPr id="24" name="Text 18"/>
          <p:cNvSpPr/>
          <p:nvPr/>
        </p:nvSpPr>
        <p:spPr>
          <a:xfrm>
            <a:off x="7333488" y="2423160"/>
            <a:ext cx="1920240" cy="594360"/>
          </a:xfrm>
          <a:prstGeom prst="rect">
            <a:avLst/>
          </a:prstGeom>
          <a:noFill/>
          <a:ln/>
        </p:spPr>
        <p:txBody>
          <a:bodyPr wrap="square" lIns="0" tIns="0" rIns="0" bIns="0" rtlCol="0" anchor="t"/>
          <a:lstStyle/>
          <a:p>
            <a:pPr algn="ctr" indent="0" marL="0">
              <a:buNone/>
            </a:pPr>
            <a:r>
              <a:rPr lang="en-US" sz="1250" b="1" dirty="0">
                <a:solidFill>
                  <a:srgbClr val="1B2A4A"/>
                </a:solidFill>
                <a:latin typeface="Cambria" pitchFamily="34" charset="0"/>
                <a:ea typeface="Cambria" pitchFamily="34" charset="-122"/>
                <a:cs typeface="Cambria" pitchFamily="34" charset="-120"/>
              </a:rPr>
              <a:t>Physics-Consistent Energy</a:t>
            </a:r>
            <a:endParaRPr lang="en-US" sz="1250" dirty="0"/>
          </a:p>
        </p:txBody>
      </p:sp>
      <p:sp>
        <p:nvSpPr>
          <p:cNvPr id="25" name="Text 19"/>
          <p:cNvSpPr/>
          <p:nvPr/>
        </p:nvSpPr>
        <p:spPr>
          <a:xfrm>
            <a:off x="7370064" y="3108960"/>
            <a:ext cx="1847088" cy="242316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Composite Simpson tracks kinetic + elastic energy at O(Δx⁴).</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Homogeneous energy stays near π²/4; forced energy oscillates as expected.</a:t>
            </a:r>
            <a:endParaRPr lang="en-US" sz="1000" dirty="0"/>
          </a:p>
        </p:txBody>
      </p:sp>
      <p:sp>
        <p:nvSpPr>
          <p:cNvPr id="26" name="Shape 20"/>
          <p:cNvSpPr/>
          <p:nvPr/>
        </p:nvSpPr>
        <p:spPr>
          <a:xfrm>
            <a:off x="9454896" y="1600200"/>
            <a:ext cx="2176272" cy="4114800"/>
          </a:xfrm>
          <a:prstGeom prst="roundRect">
            <a:avLst>
              <a:gd name="adj" fmla="val 3361"/>
            </a:avLst>
          </a:prstGeom>
          <a:solidFill>
            <a:srgbClr val="F3F5F9"/>
          </a:solidFill>
          <a:ln/>
        </p:spPr>
      </p:sp>
      <p:sp>
        <p:nvSpPr>
          <p:cNvPr id="27" name="Shape 21"/>
          <p:cNvSpPr/>
          <p:nvPr/>
        </p:nvSpPr>
        <p:spPr>
          <a:xfrm>
            <a:off x="10314432" y="1828800"/>
            <a:ext cx="457200" cy="457200"/>
          </a:xfrm>
          <a:prstGeom prst="ellipse">
            <a:avLst/>
          </a:prstGeom>
          <a:solidFill>
            <a:srgbClr val="1B2A4A"/>
          </a:solidFill>
          <a:ln/>
        </p:spPr>
      </p:sp>
      <p:pic>
        <p:nvPicPr>
          <p:cNvPr id="28" name="Image 4" descr="/home/claude/proj/figs/icons/target.png">    </p:cNvPr>
          <p:cNvPicPr>
            <a:picLocks noChangeAspect="1"/>
          </p:cNvPicPr>
          <p:nvPr/>
        </p:nvPicPr>
        <p:blipFill>
          <a:blip r:embed="rId5"/>
          <a:stretch>
            <a:fillRect/>
          </a:stretch>
        </p:blipFill>
        <p:spPr>
          <a:xfrm>
            <a:off x="10373868" y="1888236"/>
            <a:ext cx="338328" cy="338328"/>
          </a:xfrm>
          <a:prstGeom prst="rect">
            <a:avLst/>
          </a:prstGeom>
        </p:spPr>
      </p:pic>
      <p:sp>
        <p:nvSpPr>
          <p:cNvPr id="29" name="Text 22"/>
          <p:cNvSpPr/>
          <p:nvPr/>
        </p:nvSpPr>
        <p:spPr>
          <a:xfrm>
            <a:off x="9582912" y="2423160"/>
            <a:ext cx="1920240" cy="594360"/>
          </a:xfrm>
          <a:prstGeom prst="rect">
            <a:avLst/>
          </a:prstGeom>
          <a:noFill/>
          <a:ln/>
        </p:spPr>
        <p:txBody>
          <a:bodyPr wrap="square" lIns="0" tIns="0" rIns="0" bIns="0" rtlCol="0" anchor="t"/>
          <a:lstStyle/>
          <a:p>
            <a:pPr algn="ctr" indent="0" marL="0">
              <a:buNone/>
            </a:pPr>
            <a:r>
              <a:rPr lang="en-US" sz="1250" b="1" dirty="0">
                <a:solidFill>
                  <a:srgbClr val="1B2A4A"/>
                </a:solidFill>
                <a:latin typeface="Cambria" pitchFamily="34" charset="0"/>
                <a:ea typeface="Cambria" pitchFamily="34" charset="-122"/>
                <a:cs typeface="Cambria" pitchFamily="34" charset="-120"/>
              </a:rPr>
              <a:t>Successful Inversion</a:t>
            </a:r>
            <a:endParaRPr lang="en-US" sz="1250" dirty="0"/>
          </a:p>
        </p:txBody>
      </p:sp>
      <p:sp>
        <p:nvSpPr>
          <p:cNvPr id="30" name="Text 23"/>
          <p:cNvSpPr/>
          <p:nvPr/>
        </p:nvSpPr>
        <p:spPr>
          <a:xfrm>
            <a:off x="9619488" y="3108960"/>
            <a:ext cx="1847088" cy="242316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Bisection (17 iters) hands off to Newton (2 iters) → machine precision.</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Recovered c ≈ 0.7707, within discretization error of the analytical 0.7724.</a:t>
            </a:r>
            <a:endParaRPr lang="en-US" sz="1000" dirty="0"/>
          </a:p>
        </p:txBody>
      </p:sp>
      <p:sp>
        <p:nvSpPr>
          <p:cNvPr id="31" name="Shape 24"/>
          <p:cNvSpPr/>
          <p:nvPr/>
        </p:nvSpPr>
        <p:spPr>
          <a:xfrm>
            <a:off x="457200" y="5870448"/>
            <a:ext cx="11274552" cy="621792"/>
          </a:xfrm>
          <a:prstGeom prst="roundRect">
            <a:avLst>
              <a:gd name="adj" fmla="val 11765"/>
            </a:avLst>
          </a:prstGeom>
          <a:solidFill>
            <a:srgbClr val="1B2A4A"/>
          </a:solidFill>
          <a:ln/>
        </p:spPr>
      </p:sp>
      <p:sp>
        <p:nvSpPr>
          <p:cNvPr id="32" name="Text 25"/>
          <p:cNvSpPr/>
          <p:nvPr/>
        </p:nvSpPr>
        <p:spPr>
          <a:xfrm>
            <a:off x="685800" y="5870448"/>
            <a:ext cx="10881360" cy="621792"/>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A single implicit scheme, one LU factorization, and two classical root-finders — enough to simulate, validate, and physically interpret a full experimental measurement.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C33"/>
        </a:solidFill>
      </p:bgPr>
    </p:bg>
    <p:spTree>
      <p:nvGrpSpPr>
        <p:cNvPr id="1" name=""/>
        <p:cNvGrpSpPr/>
        <p:nvPr/>
      </p:nvGrpSpPr>
      <p:grpSpPr>
        <a:xfrm>
          <a:off x="0" y="0"/>
          <a:ext cx="0" cy="0"/>
          <a:chOff x="0" y="0"/>
          <a:chExt cx="0" cy="0"/>
        </a:xfrm>
      </p:grpSpPr>
      <p:sp>
        <p:nvSpPr>
          <p:cNvPr id="2" name="Shape 0"/>
          <p:cNvSpPr/>
          <p:nvPr/>
        </p:nvSpPr>
        <p:spPr>
          <a:xfrm>
            <a:off x="-2011680" y="-1828800"/>
            <a:ext cx="5120640" cy="5120640"/>
          </a:xfrm>
          <a:prstGeom prst="ellipse">
            <a:avLst/>
          </a:prstGeom>
          <a:solidFill>
            <a:srgbClr val="1D2C4C"/>
          </a:solidFill>
          <a:ln/>
        </p:spPr>
      </p:sp>
      <p:sp>
        <p:nvSpPr>
          <p:cNvPr id="3" name="Shape 1"/>
          <p:cNvSpPr/>
          <p:nvPr/>
        </p:nvSpPr>
        <p:spPr>
          <a:xfrm>
            <a:off x="9692640" y="3657600"/>
            <a:ext cx="4754880" cy="4754880"/>
          </a:xfrm>
          <a:prstGeom prst="ellipse">
            <a:avLst/>
          </a:prstGeom>
          <a:solidFill>
            <a:srgbClr val="1A2740"/>
          </a:solidFill>
          <a:ln/>
        </p:spPr>
      </p:sp>
      <p:sp>
        <p:nvSpPr>
          <p:cNvPr id="4" name="Shape 2"/>
          <p:cNvSpPr/>
          <p:nvPr/>
        </p:nvSpPr>
        <p:spPr>
          <a:xfrm>
            <a:off x="2253996" y="1920240"/>
            <a:ext cx="7680960" cy="2880360"/>
          </a:xfrm>
          <a:prstGeom prst="roundRect">
            <a:avLst>
              <a:gd name="adj" fmla="val 2540"/>
            </a:avLst>
          </a:prstGeom>
          <a:solidFill>
            <a:srgbClr val="1E2E52"/>
          </a:solidFill>
          <a:ln/>
        </p:spPr>
      </p:sp>
      <p:sp>
        <p:nvSpPr>
          <p:cNvPr id="5" name="Text 3"/>
          <p:cNvSpPr/>
          <p:nvPr/>
        </p:nvSpPr>
        <p:spPr>
          <a:xfrm>
            <a:off x="2253996" y="2331720"/>
            <a:ext cx="768096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Questions &amp; Answers</a:t>
            </a:r>
            <a:endParaRPr lang="en-US" sz="3200" dirty="0"/>
          </a:p>
        </p:txBody>
      </p:sp>
      <p:sp>
        <p:nvSpPr>
          <p:cNvPr id="6" name="Text 4"/>
          <p:cNvSpPr/>
          <p:nvPr/>
        </p:nvSpPr>
        <p:spPr>
          <a:xfrm>
            <a:off x="2253996" y="3063240"/>
            <a:ext cx="7680960" cy="457200"/>
          </a:xfrm>
          <a:prstGeom prst="rect">
            <a:avLst/>
          </a:prstGeom>
          <a:noFill/>
          <a:ln/>
        </p:spPr>
        <p:txBody>
          <a:bodyPr wrap="square" lIns="0" tIns="0" rIns="0" bIns="0" rtlCol="0" anchor="ctr"/>
          <a:lstStyle/>
          <a:p>
            <a:pPr algn="ctr" indent="0" marL="0">
              <a:buNone/>
            </a:pPr>
            <a:r>
              <a:rPr lang="en-US" sz="1400" i="1" dirty="0">
                <a:solidFill>
                  <a:srgbClr val="AAB8D6"/>
                </a:solidFill>
                <a:latin typeface="Calibri" pitchFamily="34" charset="0"/>
                <a:ea typeface="Calibri" pitchFamily="34" charset="-122"/>
                <a:cs typeface="Calibri" pitchFamily="34" charset="-120"/>
              </a:rPr>
              <a:t>Thank you for your attention — we welcome any comments or questions from the jury.</a:t>
            </a:r>
            <a:endParaRPr lang="en-US" sz="1400" dirty="0"/>
          </a:p>
        </p:txBody>
      </p:sp>
      <p:sp>
        <p:nvSpPr>
          <p:cNvPr id="7" name="Shape 5"/>
          <p:cNvSpPr/>
          <p:nvPr/>
        </p:nvSpPr>
        <p:spPr>
          <a:xfrm>
            <a:off x="4631436" y="3703320"/>
            <a:ext cx="2926080" cy="0"/>
          </a:xfrm>
          <a:prstGeom prst="line">
            <a:avLst/>
          </a:prstGeom>
          <a:noFill/>
          <a:ln w="12700">
            <a:solidFill>
              <a:srgbClr val="3A4B72"/>
            </a:solidFill>
            <a:prstDash val="solid"/>
          </a:ln>
        </p:spPr>
      </p:sp>
      <p:sp>
        <p:nvSpPr>
          <p:cNvPr id="8" name="Text 6"/>
          <p:cNvSpPr/>
          <p:nvPr/>
        </p:nvSpPr>
        <p:spPr>
          <a:xfrm>
            <a:off x="2253996" y="3886200"/>
            <a:ext cx="7680960" cy="457200"/>
          </a:xfrm>
          <a:prstGeom prst="rect">
            <a:avLst/>
          </a:prstGeom>
          <a:noFill/>
          <a:ln/>
        </p:spPr>
        <p:txBody>
          <a:bodyPr wrap="square" lIns="0" tIns="0" rIns="0" bIns="0" rtlCol="0" anchor="ctr"/>
          <a:lstStyle/>
          <a:p>
            <a:pPr algn="ctr" indent="0" marL="0">
              <a:buNone/>
            </a:pPr>
            <a:r>
              <a:rPr lang="en-US" sz="1150" dirty="0">
                <a:solidFill>
                  <a:srgbClr val="8291B5"/>
                </a:solidFill>
                <a:latin typeface="Calibri" pitchFamily="34" charset="0"/>
                <a:ea typeface="Calibri" pitchFamily="34" charset="-122"/>
                <a:cs typeface="Calibri" pitchFamily="34" charset="-120"/>
              </a:rPr>
              <a:t>AMATH102 · Applied Mathematics Project Defense · UM6P Vanguard Center</a:t>
            </a:r>
            <a:endParaRPr lang="en-US" sz="1150" dirty="0"/>
          </a:p>
        </p:txBody>
      </p:sp>
      <p:sp>
        <p:nvSpPr>
          <p:cNvPr id="9" name="Shape 7"/>
          <p:cNvSpPr/>
          <p:nvPr/>
        </p:nvSpPr>
        <p:spPr>
          <a:xfrm>
            <a:off x="5614416" y="5212080"/>
            <a:ext cx="960120" cy="960120"/>
          </a:xfrm>
          <a:prstGeom prst="ellipse">
            <a:avLst/>
          </a:prstGeom>
          <a:solidFill>
            <a:srgbClr val="24345A"/>
          </a:solidFill>
          <a:ln/>
        </p:spPr>
      </p:sp>
      <p:pic>
        <p:nvPicPr>
          <p:cNvPr id="10" name="Image 0" descr="/home/claude/proj/figs/icons/wave.png">    </p:cNvPr>
          <p:cNvPicPr>
            <a:picLocks noChangeAspect="1"/>
          </p:cNvPicPr>
          <p:nvPr/>
        </p:nvPicPr>
        <p:blipFill>
          <a:blip r:embed="rId1"/>
          <a:stretch>
            <a:fillRect/>
          </a:stretch>
        </p:blipFill>
        <p:spPr>
          <a:xfrm>
            <a:off x="5739232" y="5336896"/>
            <a:ext cx="710489" cy="7104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Vibrations in a Stretched String — AMATH102 Project 9</dc:title>
  <dc:subject>PptxGenJS Presentation</dc:subject>
  <dc:creator>Rania Lalami, Mohammed Mahzoul, Sara Loumir, Salma Haidara, Fadel Alah El Annid</dc:creator>
  <cp:lastModifiedBy>Rania Lalami, Mohammed Mahzoul, Sara Loumir, Salma Haidara, Fadel Alah El Annid</cp:lastModifiedBy>
  <cp:revision>1</cp:revision>
  <dcterms:created xsi:type="dcterms:W3CDTF">2026-07-01T17:04:25Z</dcterms:created>
  <dcterms:modified xsi:type="dcterms:W3CDTF">2026-07-01T17:04:25Z</dcterms:modified>
</cp:coreProperties>
</file>